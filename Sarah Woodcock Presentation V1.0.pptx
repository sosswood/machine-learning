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42"/>
  </p:notesMasterIdLst>
  <p:sldIdLst>
    <p:sldId id="281" r:id="rId5"/>
    <p:sldId id="282" r:id="rId6"/>
    <p:sldId id="285" r:id="rId7"/>
    <p:sldId id="286" r:id="rId8"/>
    <p:sldId id="287" r:id="rId9"/>
    <p:sldId id="288" r:id="rId10"/>
    <p:sldId id="289" r:id="rId11"/>
    <p:sldId id="290" r:id="rId12"/>
    <p:sldId id="291" r:id="rId13"/>
    <p:sldId id="256" r:id="rId14"/>
    <p:sldId id="292" r:id="rId15"/>
    <p:sldId id="297" r:id="rId16"/>
    <p:sldId id="299" r:id="rId17"/>
    <p:sldId id="318" r:id="rId18"/>
    <p:sldId id="314" r:id="rId19"/>
    <p:sldId id="316" r:id="rId20"/>
    <p:sldId id="317" r:id="rId21"/>
    <p:sldId id="301" r:id="rId22"/>
    <p:sldId id="303" r:id="rId23"/>
    <p:sldId id="327" r:id="rId24"/>
    <p:sldId id="304" r:id="rId25"/>
    <p:sldId id="305" r:id="rId26"/>
    <p:sldId id="310" r:id="rId27"/>
    <p:sldId id="319" r:id="rId28"/>
    <p:sldId id="328" r:id="rId29"/>
    <p:sldId id="329" r:id="rId30"/>
    <p:sldId id="325" r:id="rId31"/>
    <p:sldId id="326" r:id="rId32"/>
    <p:sldId id="308" r:id="rId33"/>
    <p:sldId id="311" r:id="rId34"/>
    <p:sldId id="309" r:id="rId35"/>
    <p:sldId id="320" r:id="rId36"/>
    <p:sldId id="321" r:id="rId37"/>
    <p:sldId id="322" r:id="rId38"/>
    <p:sldId id="313" r:id="rId39"/>
    <p:sldId id="323" r:id="rId40"/>
    <p:sldId id="283"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191DAD-B4A2-4404-A6D8-91C8A5AB9F74}" v="1" dt="2026-10-11T16:07:24.1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2" autoAdjust="0"/>
    <p:restoredTop sz="66828" autoAdjust="0"/>
  </p:normalViewPr>
  <p:slideViewPr>
    <p:cSldViewPr snapToGrid="0">
      <p:cViewPr varScale="1">
        <p:scale>
          <a:sx n="74" d="100"/>
          <a:sy n="74" d="100"/>
        </p:scale>
        <p:origin x="1704" y="60"/>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h Woodcock" userId="ba489fdf2a808594" providerId="LiveId" clId="{7FD70203-338D-40E7-BEFC-70FDCE4E5301}"/>
    <pc:docChg chg="modSld">
      <pc:chgData name="Sarah Woodcock" userId="ba489fdf2a808594" providerId="LiveId" clId="{7FD70203-338D-40E7-BEFC-70FDCE4E5301}" dt="2026-10-11T16:07:24.164" v="0"/>
      <pc:docMkLst>
        <pc:docMk/>
      </pc:docMkLst>
      <pc:sldChg chg="modSp">
        <pc:chgData name="Sarah Woodcock" userId="ba489fdf2a808594" providerId="LiveId" clId="{7FD70203-338D-40E7-BEFC-70FDCE4E5301}" dt="2026-10-11T16:07:24.164" v="0"/>
        <pc:sldMkLst>
          <pc:docMk/>
          <pc:sldMk cId="4074554795" sldId="283"/>
        </pc:sldMkLst>
        <pc:spChg chg="mod">
          <ac:chgData name="Sarah Woodcock" userId="ba489fdf2a808594" providerId="LiveId" clId="{7FD70203-338D-40E7-BEFC-70FDCE4E5301}" dt="2026-10-11T16:07:24.164" v="0"/>
          <ac:spMkLst>
            <pc:docMk/>
            <pc:sldMk cId="4074554795" sldId="283"/>
            <ac:spMk id="3" creationId="{14A86CD8-33A9-9DF0-3C2E-1F4EA050EDEF}"/>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4EED593-7C24-4EB5-A26D-0B2CAC87D17C}"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B0531485-C0BA-45EA-8AE6-4E7637C35B6A}">
      <dgm:prSet/>
      <dgm:spPr/>
      <dgm:t>
        <a:bodyPr/>
        <a:lstStyle/>
        <a:p>
          <a:r>
            <a:rPr lang="en-GB" dirty="0"/>
            <a:t>I reused the MovieLens 1M dataset, chronological 80/10/10 split and numerical user/film IDs.</a:t>
          </a:r>
          <a:endParaRPr lang="en-US" dirty="0"/>
        </a:p>
      </dgm:t>
    </dgm:pt>
    <dgm:pt modelId="{CC89E117-DA64-4268-B413-C2F704313598}" type="parTrans" cxnId="{92E3A252-15C9-4DFA-BED0-BF8511C85D62}">
      <dgm:prSet/>
      <dgm:spPr/>
      <dgm:t>
        <a:bodyPr/>
        <a:lstStyle/>
        <a:p>
          <a:endParaRPr lang="en-US"/>
        </a:p>
      </dgm:t>
    </dgm:pt>
    <dgm:pt modelId="{6739B446-884E-4891-A3B2-9C04CEE4DD6D}" type="sibTrans" cxnId="{92E3A252-15C9-4DFA-BED0-BF8511C85D62}">
      <dgm:prSet/>
      <dgm:spPr/>
      <dgm:t>
        <a:bodyPr/>
        <a:lstStyle/>
        <a:p>
          <a:endParaRPr lang="en-US"/>
        </a:p>
      </dgm:t>
    </dgm:pt>
    <dgm:pt modelId="{4608226C-FFFA-48D5-937F-5845C29CBAAC}">
      <dgm:prSet/>
      <dgm:spPr/>
      <dgm:t>
        <a:bodyPr/>
        <a:lstStyle/>
        <a:p>
          <a:r>
            <a:rPr lang="en-GB" dirty="0"/>
            <a:t>I created embedding layers with 32 dimensions for each user and film.</a:t>
          </a:r>
          <a:endParaRPr lang="en-US" dirty="0"/>
        </a:p>
      </dgm:t>
    </dgm:pt>
    <dgm:pt modelId="{DE5BE8FF-5924-45DD-B01A-F29E257F11D4}" type="parTrans" cxnId="{380D81B5-09D4-4F72-9820-DEBB7E0BCB64}">
      <dgm:prSet/>
      <dgm:spPr/>
      <dgm:t>
        <a:bodyPr/>
        <a:lstStyle/>
        <a:p>
          <a:endParaRPr lang="en-US"/>
        </a:p>
      </dgm:t>
    </dgm:pt>
    <dgm:pt modelId="{D6F6217C-F0B1-444C-A9F3-6DF0899A45E5}" type="sibTrans" cxnId="{380D81B5-09D4-4F72-9820-DEBB7E0BCB64}">
      <dgm:prSet/>
      <dgm:spPr/>
      <dgm:t>
        <a:bodyPr/>
        <a:lstStyle/>
        <a:p>
          <a:endParaRPr lang="en-US"/>
        </a:p>
      </dgm:t>
    </dgm:pt>
    <dgm:pt modelId="{CF5E5196-58F3-4364-8C9B-7E083B7C1926}">
      <dgm:prSet/>
      <dgm:spPr/>
      <dgm:t>
        <a:bodyPr/>
        <a:lstStyle/>
        <a:p>
          <a:r>
            <a:rPr lang="en-GB" dirty="0"/>
            <a:t>I combined the embeddings and passed them through two dense layers containing 64 and 32 neurons, using ReLU activation.</a:t>
          </a:r>
          <a:endParaRPr lang="en-US" dirty="0"/>
        </a:p>
      </dgm:t>
    </dgm:pt>
    <dgm:pt modelId="{6067EBC3-677C-4F7F-91BB-7A70684420FD}" type="parTrans" cxnId="{6CC970DF-32BD-442B-B6F8-3BDBEBE45DCA}">
      <dgm:prSet/>
      <dgm:spPr/>
      <dgm:t>
        <a:bodyPr/>
        <a:lstStyle/>
        <a:p>
          <a:endParaRPr lang="en-US"/>
        </a:p>
      </dgm:t>
    </dgm:pt>
    <dgm:pt modelId="{B46EB59E-1D3F-41BC-85C5-06514021E2FD}" type="sibTrans" cxnId="{6CC970DF-32BD-442B-B6F8-3BDBEBE45DCA}">
      <dgm:prSet/>
      <dgm:spPr/>
      <dgm:t>
        <a:bodyPr/>
        <a:lstStyle/>
        <a:p>
          <a:endParaRPr lang="en-US"/>
        </a:p>
      </dgm:t>
    </dgm:pt>
    <dgm:pt modelId="{6BEB02B6-CE04-4175-A3AA-8812B94B8CBD}">
      <dgm:prSet/>
      <dgm:spPr/>
      <dgm:t>
        <a:bodyPr/>
        <a:lstStyle/>
        <a:p>
          <a:r>
            <a:rPr lang="en-GB" dirty="0"/>
            <a:t>I used a sigmoid output, rescaled to predict ratings between 1 and 5.</a:t>
          </a:r>
          <a:endParaRPr lang="en-US" dirty="0"/>
        </a:p>
      </dgm:t>
    </dgm:pt>
    <dgm:pt modelId="{AD2E13DA-4AEA-4404-B4D0-5B57A7372E40}" type="parTrans" cxnId="{96F9B6F7-0B6B-4BB2-9269-C655DFC1A50C}">
      <dgm:prSet/>
      <dgm:spPr/>
      <dgm:t>
        <a:bodyPr/>
        <a:lstStyle/>
        <a:p>
          <a:endParaRPr lang="en-US"/>
        </a:p>
      </dgm:t>
    </dgm:pt>
    <dgm:pt modelId="{F1B05CFE-13A1-4361-A6E8-F2B2887B39B5}" type="sibTrans" cxnId="{96F9B6F7-0B6B-4BB2-9269-C655DFC1A50C}">
      <dgm:prSet/>
      <dgm:spPr/>
      <dgm:t>
        <a:bodyPr/>
        <a:lstStyle/>
        <a:p>
          <a:endParaRPr lang="en-US"/>
        </a:p>
      </dgm:t>
    </dgm:pt>
    <dgm:pt modelId="{AB1E7392-02D5-4039-8C50-FAB8DA660623}">
      <dgm:prSet/>
      <dgm:spPr/>
      <dgm:t>
        <a:bodyPr/>
        <a:lstStyle/>
        <a:p>
          <a:r>
            <a:rPr lang="en-GB" dirty="0"/>
            <a:t>I compiled the model using the Adam optimiser (learning rate 0.001) and Mean Squared Error loss.</a:t>
          </a:r>
          <a:endParaRPr lang="en-US" dirty="0"/>
        </a:p>
      </dgm:t>
    </dgm:pt>
    <dgm:pt modelId="{4C5C6E36-4584-4217-BA8C-3DADF33AAFCF}" type="parTrans" cxnId="{BBD8142C-060C-4575-AC91-F2FF5392C0DB}">
      <dgm:prSet/>
      <dgm:spPr/>
      <dgm:t>
        <a:bodyPr/>
        <a:lstStyle/>
        <a:p>
          <a:endParaRPr lang="en-US"/>
        </a:p>
      </dgm:t>
    </dgm:pt>
    <dgm:pt modelId="{E5929935-5DFC-4538-92F3-EFD012708024}" type="sibTrans" cxnId="{BBD8142C-060C-4575-AC91-F2FF5392C0DB}">
      <dgm:prSet/>
      <dgm:spPr/>
      <dgm:t>
        <a:bodyPr/>
        <a:lstStyle/>
        <a:p>
          <a:endParaRPr lang="en-US"/>
        </a:p>
      </dgm:t>
    </dgm:pt>
    <dgm:pt modelId="{C70AAABB-0EDA-4126-85E6-A4C750536EC1}">
      <dgm:prSet/>
      <dgm:spPr/>
      <dgm:t>
        <a:bodyPr/>
        <a:lstStyle/>
        <a:p>
          <a:r>
            <a:rPr lang="en-GB" dirty="0"/>
            <a:t>I trained the model with a maximum of 20 epochs, using early stopping to reduce the risk of overfitting.</a:t>
          </a:r>
          <a:endParaRPr lang="en-US" dirty="0"/>
        </a:p>
      </dgm:t>
    </dgm:pt>
    <dgm:pt modelId="{165ED28B-358C-4492-AB1E-6778BFEEA3D1}" type="parTrans" cxnId="{0D9BAFA6-18FB-4A1F-957A-600C34E34A19}">
      <dgm:prSet/>
      <dgm:spPr/>
      <dgm:t>
        <a:bodyPr/>
        <a:lstStyle/>
        <a:p>
          <a:endParaRPr lang="en-US"/>
        </a:p>
      </dgm:t>
    </dgm:pt>
    <dgm:pt modelId="{EC8481B0-1BC5-4397-9CCF-3053EBB908C2}" type="sibTrans" cxnId="{0D9BAFA6-18FB-4A1F-957A-600C34E34A19}">
      <dgm:prSet/>
      <dgm:spPr/>
      <dgm:t>
        <a:bodyPr/>
        <a:lstStyle/>
        <a:p>
          <a:endParaRPr lang="en-US"/>
        </a:p>
      </dgm:t>
    </dgm:pt>
    <dgm:pt modelId="{275ECAB9-0401-4B20-B914-F7356B0DAF61}" type="pres">
      <dgm:prSet presAssocID="{D4EED593-7C24-4EB5-A26D-0B2CAC87D17C}" presName="diagram" presStyleCnt="0">
        <dgm:presLayoutVars>
          <dgm:dir/>
          <dgm:resizeHandles val="exact"/>
        </dgm:presLayoutVars>
      </dgm:prSet>
      <dgm:spPr/>
    </dgm:pt>
    <dgm:pt modelId="{ACDB76AA-CCD9-450E-B20A-B34CE3EFADE1}" type="pres">
      <dgm:prSet presAssocID="{B0531485-C0BA-45EA-8AE6-4E7637C35B6A}" presName="node" presStyleLbl="node1" presStyleIdx="0" presStyleCnt="6">
        <dgm:presLayoutVars>
          <dgm:bulletEnabled val="1"/>
        </dgm:presLayoutVars>
      </dgm:prSet>
      <dgm:spPr/>
    </dgm:pt>
    <dgm:pt modelId="{69C4222D-F7E5-4D7D-AA12-F68EBBF4D7CD}" type="pres">
      <dgm:prSet presAssocID="{6739B446-884E-4891-A3B2-9C04CEE4DD6D}" presName="sibTrans" presStyleCnt="0"/>
      <dgm:spPr/>
    </dgm:pt>
    <dgm:pt modelId="{FDBFB708-0D91-4924-B135-E570C904FCFC}" type="pres">
      <dgm:prSet presAssocID="{4608226C-FFFA-48D5-937F-5845C29CBAAC}" presName="node" presStyleLbl="node1" presStyleIdx="1" presStyleCnt="6">
        <dgm:presLayoutVars>
          <dgm:bulletEnabled val="1"/>
        </dgm:presLayoutVars>
      </dgm:prSet>
      <dgm:spPr/>
    </dgm:pt>
    <dgm:pt modelId="{FD38ECAC-D7B2-4E41-B2E7-3D5DA64D0A83}" type="pres">
      <dgm:prSet presAssocID="{D6F6217C-F0B1-444C-A9F3-6DF0899A45E5}" presName="sibTrans" presStyleCnt="0"/>
      <dgm:spPr/>
    </dgm:pt>
    <dgm:pt modelId="{D5A80539-3489-4A61-BFC7-6DA94D94FC22}" type="pres">
      <dgm:prSet presAssocID="{CF5E5196-58F3-4364-8C9B-7E083B7C1926}" presName="node" presStyleLbl="node1" presStyleIdx="2" presStyleCnt="6">
        <dgm:presLayoutVars>
          <dgm:bulletEnabled val="1"/>
        </dgm:presLayoutVars>
      </dgm:prSet>
      <dgm:spPr/>
    </dgm:pt>
    <dgm:pt modelId="{9153F2A5-590B-4DDF-8155-FFC41E48627E}" type="pres">
      <dgm:prSet presAssocID="{B46EB59E-1D3F-41BC-85C5-06514021E2FD}" presName="sibTrans" presStyleCnt="0"/>
      <dgm:spPr/>
    </dgm:pt>
    <dgm:pt modelId="{0B7B5BCD-9073-475F-A7CF-17ED6C67608D}" type="pres">
      <dgm:prSet presAssocID="{6BEB02B6-CE04-4175-A3AA-8812B94B8CBD}" presName="node" presStyleLbl="node1" presStyleIdx="3" presStyleCnt="6">
        <dgm:presLayoutVars>
          <dgm:bulletEnabled val="1"/>
        </dgm:presLayoutVars>
      </dgm:prSet>
      <dgm:spPr/>
    </dgm:pt>
    <dgm:pt modelId="{583F4839-86BE-4453-985D-B508820131DE}" type="pres">
      <dgm:prSet presAssocID="{F1B05CFE-13A1-4361-A6E8-F2B2887B39B5}" presName="sibTrans" presStyleCnt="0"/>
      <dgm:spPr/>
    </dgm:pt>
    <dgm:pt modelId="{6A53BB59-E958-4BD3-8DFB-F9E9DA0CEBFD}" type="pres">
      <dgm:prSet presAssocID="{AB1E7392-02D5-4039-8C50-FAB8DA660623}" presName="node" presStyleLbl="node1" presStyleIdx="4" presStyleCnt="6">
        <dgm:presLayoutVars>
          <dgm:bulletEnabled val="1"/>
        </dgm:presLayoutVars>
      </dgm:prSet>
      <dgm:spPr/>
    </dgm:pt>
    <dgm:pt modelId="{EE6AE279-754E-4CBD-8E14-6FC733F8BA50}" type="pres">
      <dgm:prSet presAssocID="{E5929935-5DFC-4538-92F3-EFD012708024}" presName="sibTrans" presStyleCnt="0"/>
      <dgm:spPr/>
    </dgm:pt>
    <dgm:pt modelId="{C366DD29-6E84-40E5-A5AB-CB4D0435896B}" type="pres">
      <dgm:prSet presAssocID="{C70AAABB-0EDA-4126-85E6-A4C750536EC1}" presName="node" presStyleLbl="node1" presStyleIdx="5" presStyleCnt="6">
        <dgm:presLayoutVars>
          <dgm:bulletEnabled val="1"/>
        </dgm:presLayoutVars>
      </dgm:prSet>
      <dgm:spPr/>
    </dgm:pt>
  </dgm:ptLst>
  <dgm:cxnLst>
    <dgm:cxn modelId="{BBD8142C-060C-4575-AC91-F2FF5392C0DB}" srcId="{D4EED593-7C24-4EB5-A26D-0B2CAC87D17C}" destId="{AB1E7392-02D5-4039-8C50-FAB8DA660623}" srcOrd="4" destOrd="0" parTransId="{4C5C6E36-4584-4217-BA8C-3DADF33AAFCF}" sibTransId="{E5929935-5DFC-4538-92F3-EFD012708024}"/>
    <dgm:cxn modelId="{976B4D6C-2F85-4683-A333-05F98C9565EC}" type="presOf" srcId="{C70AAABB-0EDA-4126-85E6-A4C750536EC1}" destId="{C366DD29-6E84-40E5-A5AB-CB4D0435896B}" srcOrd="0" destOrd="0" presId="urn:microsoft.com/office/officeart/2005/8/layout/default"/>
    <dgm:cxn modelId="{36C4A671-26B1-4BEF-8808-F88763EE7EF3}" type="presOf" srcId="{6BEB02B6-CE04-4175-A3AA-8812B94B8CBD}" destId="{0B7B5BCD-9073-475F-A7CF-17ED6C67608D}" srcOrd="0" destOrd="0" presId="urn:microsoft.com/office/officeart/2005/8/layout/default"/>
    <dgm:cxn modelId="{92E3A252-15C9-4DFA-BED0-BF8511C85D62}" srcId="{D4EED593-7C24-4EB5-A26D-0B2CAC87D17C}" destId="{B0531485-C0BA-45EA-8AE6-4E7637C35B6A}" srcOrd="0" destOrd="0" parTransId="{CC89E117-DA64-4268-B413-C2F704313598}" sibTransId="{6739B446-884E-4891-A3B2-9C04CEE4DD6D}"/>
    <dgm:cxn modelId="{44F48575-62FA-4F40-8F09-0BBB77252C15}" type="presOf" srcId="{CF5E5196-58F3-4364-8C9B-7E083B7C1926}" destId="{D5A80539-3489-4A61-BFC7-6DA94D94FC22}" srcOrd="0" destOrd="0" presId="urn:microsoft.com/office/officeart/2005/8/layout/default"/>
    <dgm:cxn modelId="{0751ED89-2200-4B9F-8B94-0D4CEBBD1320}" type="presOf" srcId="{AB1E7392-02D5-4039-8C50-FAB8DA660623}" destId="{6A53BB59-E958-4BD3-8DFB-F9E9DA0CEBFD}" srcOrd="0" destOrd="0" presId="urn:microsoft.com/office/officeart/2005/8/layout/default"/>
    <dgm:cxn modelId="{0D9BAFA6-18FB-4A1F-957A-600C34E34A19}" srcId="{D4EED593-7C24-4EB5-A26D-0B2CAC87D17C}" destId="{C70AAABB-0EDA-4126-85E6-A4C750536EC1}" srcOrd="5" destOrd="0" parTransId="{165ED28B-358C-4492-AB1E-6778BFEEA3D1}" sibTransId="{EC8481B0-1BC5-4397-9CCF-3053EBB908C2}"/>
    <dgm:cxn modelId="{380D81B5-09D4-4F72-9820-DEBB7E0BCB64}" srcId="{D4EED593-7C24-4EB5-A26D-0B2CAC87D17C}" destId="{4608226C-FFFA-48D5-937F-5845C29CBAAC}" srcOrd="1" destOrd="0" parTransId="{DE5BE8FF-5924-45DD-B01A-F29E257F11D4}" sibTransId="{D6F6217C-F0B1-444C-A9F3-6DF0899A45E5}"/>
    <dgm:cxn modelId="{A0765BCA-98B2-436B-9F31-0225CD5CE316}" type="presOf" srcId="{D4EED593-7C24-4EB5-A26D-0B2CAC87D17C}" destId="{275ECAB9-0401-4B20-B914-F7356B0DAF61}" srcOrd="0" destOrd="0" presId="urn:microsoft.com/office/officeart/2005/8/layout/default"/>
    <dgm:cxn modelId="{54DEE9DD-9AA3-470D-A45F-983BD2A3A888}" type="presOf" srcId="{B0531485-C0BA-45EA-8AE6-4E7637C35B6A}" destId="{ACDB76AA-CCD9-450E-B20A-B34CE3EFADE1}" srcOrd="0" destOrd="0" presId="urn:microsoft.com/office/officeart/2005/8/layout/default"/>
    <dgm:cxn modelId="{6CC970DF-32BD-442B-B6F8-3BDBEBE45DCA}" srcId="{D4EED593-7C24-4EB5-A26D-0B2CAC87D17C}" destId="{CF5E5196-58F3-4364-8C9B-7E083B7C1926}" srcOrd="2" destOrd="0" parTransId="{6067EBC3-677C-4F7F-91BB-7A70684420FD}" sibTransId="{B46EB59E-1D3F-41BC-85C5-06514021E2FD}"/>
    <dgm:cxn modelId="{3DE8DDE3-2A56-4BC8-AAD0-8C81D0B8101D}" type="presOf" srcId="{4608226C-FFFA-48D5-937F-5845C29CBAAC}" destId="{FDBFB708-0D91-4924-B135-E570C904FCFC}" srcOrd="0" destOrd="0" presId="urn:microsoft.com/office/officeart/2005/8/layout/default"/>
    <dgm:cxn modelId="{96F9B6F7-0B6B-4BB2-9269-C655DFC1A50C}" srcId="{D4EED593-7C24-4EB5-A26D-0B2CAC87D17C}" destId="{6BEB02B6-CE04-4175-A3AA-8812B94B8CBD}" srcOrd="3" destOrd="0" parTransId="{AD2E13DA-4AEA-4404-B4D0-5B57A7372E40}" sibTransId="{F1B05CFE-13A1-4361-A6E8-F2B2887B39B5}"/>
    <dgm:cxn modelId="{288B1676-AC00-4095-8D68-D4F2B626E264}" type="presParOf" srcId="{275ECAB9-0401-4B20-B914-F7356B0DAF61}" destId="{ACDB76AA-CCD9-450E-B20A-B34CE3EFADE1}" srcOrd="0" destOrd="0" presId="urn:microsoft.com/office/officeart/2005/8/layout/default"/>
    <dgm:cxn modelId="{91FCB1ED-CDB5-448E-A41D-2456772C8DA4}" type="presParOf" srcId="{275ECAB9-0401-4B20-B914-F7356B0DAF61}" destId="{69C4222D-F7E5-4D7D-AA12-F68EBBF4D7CD}" srcOrd="1" destOrd="0" presId="urn:microsoft.com/office/officeart/2005/8/layout/default"/>
    <dgm:cxn modelId="{F9B4036E-2B9E-449B-9336-FDCF14CF13D9}" type="presParOf" srcId="{275ECAB9-0401-4B20-B914-F7356B0DAF61}" destId="{FDBFB708-0D91-4924-B135-E570C904FCFC}" srcOrd="2" destOrd="0" presId="urn:microsoft.com/office/officeart/2005/8/layout/default"/>
    <dgm:cxn modelId="{62D4C310-D4EE-484C-BB2D-C3490040E18F}" type="presParOf" srcId="{275ECAB9-0401-4B20-B914-F7356B0DAF61}" destId="{FD38ECAC-D7B2-4E41-B2E7-3D5DA64D0A83}" srcOrd="3" destOrd="0" presId="urn:microsoft.com/office/officeart/2005/8/layout/default"/>
    <dgm:cxn modelId="{0A0D05B8-1B9F-4A9C-BEDA-9BB86474C771}" type="presParOf" srcId="{275ECAB9-0401-4B20-B914-F7356B0DAF61}" destId="{D5A80539-3489-4A61-BFC7-6DA94D94FC22}" srcOrd="4" destOrd="0" presId="urn:microsoft.com/office/officeart/2005/8/layout/default"/>
    <dgm:cxn modelId="{9DBF1D20-182F-44DC-A967-E45858CEC4DC}" type="presParOf" srcId="{275ECAB9-0401-4B20-B914-F7356B0DAF61}" destId="{9153F2A5-590B-4DDF-8155-FFC41E48627E}" srcOrd="5" destOrd="0" presId="urn:microsoft.com/office/officeart/2005/8/layout/default"/>
    <dgm:cxn modelId="{DE50373C-5519-4321-AF8B-87BAC1FF3080}" type="presParOf" srcId="{275ECAB9-0401-4B20-B914-F7356B0DAF61}" destId="{0B7B5BCD-9073-475F-A7CF-17ED6C67608D}" srcOrd="6" destOrd="0" presId="urn:microsoft.com/office/officeart/2005/8/layout/default"/>
    <dgm:cxn modelId="{699BDFBF-2EFB-443C-BD1F-98DC30E7890A}" type="presParOf" srcId="{275ECAB9-0401-4B20-B914-F7356B0DAF61}" destId="{583F4839-86BE-4453-985D-B508820131DE}" srcOrd="7" destOrd="0" presId="urn:microsoft.com/office/officeart/2005/8/layout/default"/>
    <dgm:cxn modelId="{9C620399-96FC-4360-A77A-FD8B0F1D399A}" type="presParOf" srcId="{275ECAB9-0401-4B20-B914-F7356B0DAF61}" destId="{6A53BB59-E958-4BD3-8DFB-F9E9DA0CEBFD}" srcOrd="8" destOrd="0" presId="urn:microsoft.com/office/officeart/2005/8/layout/default"/>
    <dgm:cxn modelId="{BB9CF602-9B75-4A78-AE72-146C97AECEA2}" type="presParOf" srcId="{275ECAB9-0401-4B20-B914-F7356B0DAF61}" destId="{EE6AE279-754E-4CBD-8E14-6FC733F8BA50}" srcOrd="9" destOrd="0" presId="urn:microsoft.com/office/officeart/2005/8/layout/default"/>
    <dgm:cxn modelId="{580DF943-6C3E-40E4-9BCF-6D0C2DEC5B96}" type="presParOf" srcId="{275ECAB9-0401-4B20-B914-F7356B0DAF61}" destId="{C366DD29-6E84-40E5-A5AB-CB4D0435896B}" srcOrd="10"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158A253-CF85-437F-8870-070B49920320}"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A818671B-6220-485B-93ED-AD648DC6C54A}">
      <dgm:prSet/>
      <dgm:spPr/>
      <dgm:t>
        <a:bodyPr/>
        <a:lstStyle/>
        <a:p>
          <a:r>
            <a:rPr lang="en-GB" b="0" i="0" dirty="0"/>
            <a:t>Exploratory data analysis showed uneven distributions of ratings across users and films.</a:t>
          </a:r>
          <a:endParaRPr lang="en-US" dirty="0"/>
        </a:p>
      </dgm:t>
    </dgm:pt>
    <dgm:pt modelId="{AAD939A3-1B13-4197-96A4-CDE1A2DE0A5C}" type="parTrans" cxnId="{EA258FD9-8BFF-4691-9531-71EEAEB3F5CF}">
      <dgm:prSet/>
      <dgm:spPr/>
      <dgm:t>
        <a:bodyPr/>
        <a:lstStyle/>
        <a:p>
          <a:endParaRPr lang="en-US"/>
        </a:p>
      </dgm:t>
    </dgm:pt>
    <dgm:pt modelId="{1FD0322A-4DCD-4218-861A-5DAE9926E6F1}" type="sibTrans" cxnId="{EA258FD9-8BFF-4691-9531-71EEAEB3F5CF}">
      <dgm:prSet/>
      <dgm:spPr/>
      <dgm:t>
        <a:bodyPr/>
        <a:lstStyle/>
        <a:p>
          <a:endParaRPr lang="en-US"/>
        </a:p>
      </dgm:t>
    </dgm:pt>
    <dgm:pt modelId="{92DEAA44-885B-4E47-BCEC-C27B3CDA1A6D}">
      <dgm:prSet/>
      <dgm:spPr/>
      <dgm:t>
        <a:bodyPr/>
        <a:lstStyle/>
        <a:p>
          <a:r>
            <a:rPr lang="en-GB" b="0" i="0" dirty="0"/>
            <a:t>There is a risk that models will learn the most from frequently rated films and highly active users.</a:t>
          </a:r>
          <a:endParaRPr lang="en-US" dirty="0"/>
        </a:p>
      </dgm:t>
    </dgm:pt>
    <dgm:pt modelId="{DC234B76-3F51-4035-86B5-4B1456D7CC30}" type="parTrans" cxnId="{89436EA3-0ADB-4075-A9B7-4AD4DD9FE42B}">
      <dgm:prSet/>
      <dgm:spPr/>
      <dgm:t>
        <a:bodyPr/>
        <a:lstStyle/>
        <a:p>
          <a:endParaRPr lang="en-US"/>
        </a:p>
      </dgm:t>
    </dgm:pt>
    <dgm:pt modelId="{BA353C34-1FA1-446E-8D83-210B9FB85870}" type="sibTrans" cxnId="{89436EA3-0ADB-4075-A9B7-4AD4DD9FE42B}">
      <dgm:prSet/>
      <dgm:spPr/>
      <dgm:t>
        <a:bodyPr/>
        <a:lstStyle/>
        <a:p>
          <a:endParaRPr lang="en-US"/>
        </a:p>
      </dgm:t>
    </dgm:pt>
    <dgm:pt modelId="{6F1645F3-E81C-4572-B444-23B5AD90F1AB}">
      <dgm:prSet/>
      <dgm:spPr/>
      <dgm:t>
        <a:bodyPr/>
        <a:lstStyle/>
        <a:p>
          <a:r>
            <a:rPr lang="en-GB" b="0" i="0" dirty="0"/>
            <a:t>This could put less popular films at a disadvantage and provide less helpful recommendations to users with limited rating histories.</a:t>
          </a:r>
          <a:endParaRPr lang="en-US" dirty="0"/>
        </a:p>
      </dgm:t>
    </dgm:pt>
    <dgm:pt modelId="{64A170C1-39D6-48F4-AB10-252D0B5A788C}" type="parTrans" cxnId="{084AA75A-896C-4EFC-861C-095EC7F9503F}">
      <dgm:prSet/>
      <dgm:spPr/>
      <dgm:t>
        <a:bodyPr/>
        <a:lstStyle/>
        <a:p>
          <a:endParaRPr lang="en-US"/>
        </a:p>
      </dgm:t>
    </dgm:pt>
    <dgm:pt modelId="{897C6E97-73B0-4942-9054-DDA0DF320B00}" type="sibTrans" cxnId="{084AA75A-896C-4EFC-861C-095EC7F9503F}">
      <dgm:prSet/>
      <dgm:spPr/>
      <dgm:t>
        <a:bodyPr/>
        <a:lstStyle/>
        <a:p>
          <a:endParaRPr lang="en-US"/>
        </a:p>
      </dgm:t>
    </dgm:pt>
    <dgm:pt modelId="{15D752A0-6796-4F73-8FAC-E336E7E178BC}">
      <dgm:prSet/>
      <dgm:spPr/>
      <dgm:t>
        <a:bodyPr/>
        <a:lstStyle/>
        <a:p>
          <a:r>
            <a:rPr lang="en-GB" b="0" i="0" dirty="0"/>
            <a:t>MovieLens 1M contains demographic information, allowing the representation of different user groups to be examined and considered within our recommender system.</a:t>
          </a:r>
          <a:endParaRPr lang="en-US" dirty="0"/>
        </a:p>
      </dgm:t>
    </dgm:pt>
    <dgm:pt modelId="{145721B8-B0E7-453E-8F41-D19D3E023AA4}" type="parTrans" cxnId="{919CA9DD-3DE2-4743-9781-EFBE08EDFD28}">
      <dgm:prSet/>
      <dgm:spPr/>
      <dgm:t>
        <a:bodyPr/>
        <a:lstStyle/>
        <a:p>
          <a:endParaRPr lang="en-US"/>
        </a:p>
      </dgm:t>
    </dgm:pt>
    <dgm:pt modelId="{BD34BBC0-AA92-4545-B018-C6B8E13A6E0E}" type="sibTrans" cxnId="{919CA9DD-3DE2-4743-9781-EFBE08EDFD28}">
      <dgm:prSet/>
      <dgm:spPr/>
      <dgm:t>
        <a:bodyPr/>
        <a:lstStyle/>
        <a:p>
          <a:endParaRPr lang="en-US"/>
        </a:p>
      </dgm:t>
    </dgm:pt>
    <dgm:pt modelId="{A7D43165-378C-48F4-B293-D30D358CD9B3}">
      <dgm:prSet/>
      <dgm:spPr/>
      <dgm:t>
        <a:bodyPr/>
        <a:lstStyle/>
        <a:p>
          <a:r>
            <a:rPr lang="en-GB" b="0" i="0" dirty="0"/>
            <a:t>However, the above points raise questions about fairness, representation and whether the dataset reflects the wider population of potential users.</a:t>
          </a:r>
          <a:endParaRPr lang="en-US" dirty="0"/>
        </a:p>
      </dgm:t>
    </dgm:pt>
    <dgm:pt modelId="{AFEF7627-433A-48FA-B142-D00F02A4BCCD}" type="parTrans" cxnId="{86D3DA6D-690A-494A-A7FE-2204AD59D398}">
      <dgm:prSet/>
      <dgm:spPr/>
      <dgm:t>
        <a:bodyPr/>
        <a:lstStyle/>
        <a:p>
          <a:endParaRPr lang="en-US"/>
        </a:p>
      </dgm:t>
    </dgm:pt>
    <dgm:pt modelId="{0A1F3DE3-7812-4F66-AB14-67466B0F6D70}" type="sibTrans" cxnId="{86D3DA6D-690A-494A-A7FE-2204AD59D398}">
      <dgm:prSet/>
      <dgm:spPr/>
      <dgm:t>
        <a:bodyPr/>
        <a:lstStyle/>
        <a:p>
          <a:endParaRPr lang="en-US"/>
        </a:p>
      </dgm:t>
    </dgm:pt>
    <dgm:pt modelId="{8A55F84D-AF58-4268-9391-FE8A94A6F121}" type="pres">
      <dgm:prSet presAssocID="{A158A253-CF85-437F-8870-070B49920320}" presName="vert0" presStyleCnt="0">
        <dgm:presLayoutVars>
          <dgm:dir/>
          <dgm:animOne val="branch"/>
          <dgm:animLvl val="lvl"/>
        </dgm:presLayoutVars>
      </dgm:prSet>
      <dgm:spPr/>
    </dgm:pt>
    <dgm:pt modelId="{0E93B597-8C66-4982-9438-B45BD0271488}" type="pres">
      <dgm:prSet presAssocID="{A818671B-6220-485B-93ED-AD648DC6C54A}" presName="thickLine" presStyleLbl="alignNode1" presStyleIdx="0" presStyleCnt="5"/>
      <dgm:spPr/>
    </dgm:pt>
    <dgm:pt modelId="{B0778504-D35E-4CE2-BF3D-AE97107FB9AF}" type="pres">
      <dgm:prSet presAssocID="{A818671B-6220-485B-93ED-AD648DC6C54A}" presName="horz1" presStyleCnt="0"/>
      <dgm:spPr/>
    </dgm:pt>
    <dgm:pt modelId="{6D28747A-B9FF-4855-AFC7-8D5BD66ECBE2}" type="pres">
      <dgm:prSet presAssocID="{A818671B-6220-485B-93ED-AD648DC6C54A}" presName="tx1" presStyleLbl="revTx" presStyleIdx="0" presStyleCnt="5"/>
      <dgm:spPr/>
    </dgm:pt>
    <dgm:pt modelId="{80EE4942-9A40-4D2D-A00F-B8C037CFDDAD}" type="pres">
      <dgm:prSet presAssocID="{A818671B-6220-485B-93ED-AD648DC6C54A}" presName="vert1" presStyleCnt="0"/>
      <dgm:spPr/>
    </dgm:pt>
    <dgm:pt modelId="{86FBFF5A-8E9A-471E-88F0-6B0550A0A811}" type="pres">
      <dgm:prSet presAssocID="{92DEAA44-885B-4E47-BCEC-C27B3CDA1A6D}" presName="thickLine" presStyleLbl="alignNode1" presStyleIdx="1" presStyleCnt="5"/>
      <dgm:spPr/>
    </dgm:pt>
    <dgm:pt modelId="{D2BC9F48-6E40-4716-A0E8-3A11C74B1C2F}" type="pres">
      <dgm:prSet presAssocID="{92DEAA44-885B-4E47-BCEC-C27B3CDA1A6D}" presName="horz1" presStyleCnt="0"/>
      <dgm:spPr/>
    </dgm:pt>
    <dgm:pt modelId="{6D6AA5C4-151F-43D3-9839-D30B89DED582}" type="pres">
      <dgm:prSet presAssocID="{92DEAA44-885B-4E47-BCEC-C27B3CDA1A6D}" presName="tx1" presStyleLbl="revTx" presStyleIdx="1" presStyleCnt="5"/>
      <dgm:spPr/>
    </dgm:pt>
    <dgm:pt modelId="{D8DF0B54-5FB7-453D-8F6A-E406C2384634}" type="pres">
      <dgm:prSet presAssocID="{92DEAA44-885B-4E47-BCEC-C27B3CDA1A6D}" presName="vert1" presStyleCnt="0"/>
      <dgm:spPr/>
    </dgm:pt>
    <dgm:pt modelId="{E51EF85B-BF9C-4559-9B3C-A9EFB6B575AE}" type="pres">
      <dgm:prSet presAssocID="{6F1645F3-E81C-4572-B444-23B5AD90F1AB}" presName="thickLine" presStyleLbl="alignNode1" presStyleIdx="2" presStyleCnt="5"/>
      <dgm:spPr/>
    </dgm:pt>
    <dgm:pt modelId="{C6F752D1-E48E-4A85-94B4-0A06DE708E69}" type="pres">
      <dgm:prSet presAssocID="{6F1645F3-E81C-4572-B444-23B5AD90F1AB}" presName="horz1" presStyleCnt="0"/>
      <dgm:spPr/>
    </dgm:pt>
    <dgm:pt modelId="{8CE6592C-8C9D-4EBF-B61F-4A3F3DA61938}" type="pres">
      <dgm:prSet presAssocID="{6F1645F3-E81C-4572-B444-23B5AD90F1AB}" presName="tx1" presStyleLbl="revTx" presStyleIdx="2" presStyleCnt="5"/>
      <dgm:spPr/>
    </dgm:pt>
    <dgm:pt modelId="{5B622E6B-7AEA-4CFA-9282-65E37A93B23A}" type="pres">
      <dgm:prSet presAssocID="{6F1645F3-E81C-4572-B444-23B5AD90F1AB}" presName="vert1" presStyleCnt="0"/>
      <dgm:spPr/>
    </dgm:pt>
    <dgm:pt modelId="{8186A3BD-D6C0-4C4F-B0FC-CD2E847947E6}" type="pres">
      <dgm:prSet presAssocID="{15D752A0-6796-4F73-8FAC-E336E7E178BC}" presName="thickLine" presStyleLbl="alignNode1" presStyleIdx="3" presStyleCnt="5"/>
      <dgm:spPr/>
    </dgm:pt>
    <dgm:pt modelId="{2F4C739B-34FB-4419-A7FE-DD92A1A0435E}" type="pres">
      <dgm:prSet presAssocID="{15D752A0-6796-4F73-8FAC-E336E7E178BC}" presName="horz1" presStyleCnt="0"/>
      <dgm:spPr/>
    </dgm:pt>
    <dgm:pt modelId="{36115E4E-37F1-4CF1-A713-544BA8439649}" type="pres">
      <dgm:prSet presAssocID="{15D752A0-6796-4F73-8FAC-E336E7E178BC}" presName="tx1" presStyleLbl="revTx" presStyleIdx="3" presStyleCnt="5"/>
      <dgm:spPr/>
    </dgm:pt>
    <dgm:pt modelId="{ADCDF215-B1C2-48EA-900A-4B85654E5740}" type="pres">
      <dgm:prSet presAssocID="{15D752A0-6796-4F73-8FAC-E336E7E178BC}" presName="vert1" presStyleCnt="0"/>
      <dgm:spPr/>
    </dgm:pt>
    <dgm:pt modelId="{0C50E17E-ACAB-4A8B-AE3D-7D6DA4901A17}" type="pres">
      <dgm:prSet presAssocID="{A7D43165-378C-48F4-B293-D30D358CD9B3}" presName="thickLine" presStyleLbl="alignNode1" presStyleIdx="4" presStyleCnt="5"/>
      <dgm:spPr/>
    </dgm:pt>
    <dgm:pt modelId="{D4669573-8B58-487C-8D5F-CE110BB6DFE2}" type="pres">
      <dgm:prSet presAssocID="{A7D43165-378C-48F4-B293-D30D358CD9B3}" presName="horz1" presStyleCnt="0"/>
      <dgm:spPr/>
    </dgm:pt>
    <dgm:pt modelId="{034179D1-DBDD-4C73-9089-51E6446C2F20}" type="pres">
      <dgm:prSet presAssocID="{A7D43165-378C-48F4-B293-D30D358CD9B3}" presName="tx1" presStyleLbl="revTx" presStyleIdx="4" presStyleCnt="5"/>
      <dgm:spPr/>
    </dgm:pt>
    <dgm:pt modelId="{2FE69E64-A7EF-4F6E-9D0C-9F2179341881}" type="pres">
      <dgm:prSet presAssocID="{A7D43165-378C-48F4-B293-D30D358CD9B3}" presName="vert1" presStyleCnt="0"/>
      <dgm:spPr/>
    </dgm:pt>
  </dgm:ptLst>
  <dgm:cxnLst>
    <dgm:cxn modelId="{8266E102-16EF-4FE1-A0CD-92B85317A685}" type="presOf" srcId="{6F1645F3-E81C-4572-B444-23B5AD90F1AB}" destId="{8CE6592C-8C9D-4EBF-B61F-4A3F3DA61938}" srcOrd="0" destOrd="0" presId="urn:microsoft.com/office/officeart/2008/layout/LinedList"/>
    <dgm:cxn modelId="{52651E0A-4E0D-44F8-A786-3C50ACF85FD7}" type="presOf" srcId="{A7D43165-378C-48F4-B293-D30D358CD9B3}" destId="{034179D1-DBDD-4C73-9089-51E6446C2F20}" srcOrd="0" destOrd="0" presId="urn:microsoft.com/office/officeart/2008/layout/LinedList"/>
    <dgm:cxn modelId="{109B3B24-F164-4ACD-A160-BC796241F036}" type="presOf" srcId="{A158A253-CF85-437F-8870-070B49920320}" destId="{8A55F84D-AF58-4268-9391-FE8A94A6F121}" srcOrd="0" destOrd="0" presId="urn:microsoft.com/office/officeart/2008/layout/LinedList"/>
    <dgm:cxn modelId="{5BCACB34-98D2-4854-927F-FB887B800DEF}" type="presOf" srcId="{15D752A0-6796-4F73-8FAC-E336E7E178BC}" destId="{36115E4E-37F1-4CF1-A713-544BA8439649}" srcOrd="0" destOrd="0" presId="urn:microsoft.com/office/officeart/2008/layout/LinedList"/>
    <dgm:cxn modelId="{EC09F339-8DA9-48D6-A316-FC8CF1799216}" type="presOf" srcId="{92DEAA44-885B-4E47-BCEC-C27B3CDA1A6D}" destId="{6D6AA5C4-151F-43D3-9839-D30B89DED582}" srcOrd="0" destOrd="0" presId="urn:microsoft.com/office/officeart/2008/layout/LinedList"/>
    <dgm:cxn modelId="{86D3DA6D-690A-494A-A7FE-2204AD59D398}" srcId="{A158A253-CF85-437F-8870-070B49920320}" destId="{A7D43165-378C-48F4-B293-D30D358CD9B3}" srcOrd="4" destOrd="0" parTransId="{AFEF7627-433A-48FA-B142-D00F02A4BCCD}" sibTransId="{0A1F3DE3-7812-4F66-AB14-67466B0F6D70}"/>
    <dgm:cxn modelId="{084AA75A-896C-4EFC-861C-095EC7F9503F}" srcId="{A158A253-CF85-437F-8870-070B49920320}" destId="{6F1645F3-E81C-4572-B444-23B5AD90F1AB}" srcOrd="2" destOrd="0" parTransId="{64A170C1-39D6-48F4-AB10-252D0B5A788C}" sibTransId="{897C6E97-73B0-4942-9054-DDA0DF320B00}"/>
    <dgm:cxn modelId="{89436EA3-0ADB-4075-A9B7-4AD4DD9FE42B}" srcId="{A158A253-CF85-437F-8870-070B49920320}" destId="{92DEAA44-885B-4E47-BCEC-C27B3CDA1A6D}" srcOrd="1" destOrd="0" parTransId="{DC234B76-3F51-4035-86B5-4B1456D7CC30}" sibTransId="{BA353C34-1FA1-446E-8D83-210B9FB85870}"/>
    <dgm:cxn modelId="{C1C5D1AA-E513-4C3D-9A63-1D7999071050}" type="presOf" srcId="{A818671B-6220-485B-93ED-AD648DC6C54A}" destId="{6D28747A-B9FF-4855-AFC7-8D5BD66ECBE2}" srcOrd="0" destOrd="0" presId="urn:microsoft.com/office/officeart/2008/layout/LinedList"/>
    <dgm:cxn modelId="{EA258FD9-8BFF-4691-9531-71EEAEB3F5CF}" srcId="{A158A253-CF85-437F-8870-070B49920320}" destId="{A818671B-6220-485B-93ED-AD648DC6C54A}" srcOrd="0" destOrd="0" parTransId="{AAD939A3-1B13-4197-96A4-CDE1A2DE0A5C}" sibTransId="{1FD0322A-4DCD-4218-861A-5DAE9926E6F1}"/>
    <dgm:cxn modelId="{919CA9DD-3DE2-4743-9781-EFBE08EDFD28}" srcId="{A158A253-CF85-437F-8870-070B49920320}" destId="{15D752A0-6796-4F73-8FAC-E336E7E178BC}" srcOrd="3" destOrd="0" parTransId="{145721B8-B0E7-453E-8F41-D19D3E023AA4}" sibTransId="{BD34BBC0-AA92-4545-B018-C6B8E13A6E0E}"/>
    <dgm:cxn modelId="{A6B3DFB9-3E6D-433A-BC87-25007F8411B3}" type="presParOf" srcId="{8A55F84D-AF58-4268-9391-FE8A94A6F121}" destId="{0E93B597-8C66-4982-9438-B45BD0271488}" srcOrd="0" destOrd="0" presId="urn:microsoft.com/office/officeart/2008/layout/LinedList"/>
    <dgm:cxn modelId="{03027B49-F2F2-4CEF-866C-CD0BC15C293F}" type="presParOf" srcId="{8A55F84D-AF58-4268-9391-FE8A94A6F121}" destId="{B0778504-D35E-4CE2-BF3D-AE97107FB9AF}" srcOrd="1" destOrd="0" presId="urn:microsoft.com/office/officeart/2008/layout/LinedList"/>
    <dgm:cxn modelId="{09857218-FC9C-4CBD-84E6-7F5C3B4CB771}" type="presParOf" srcId="{B0778504-D35E-4CE2-BF3D-AE97107FB9AF}" destId="{6D28747A-B9FF-4855-AFC7-8D5BD66ECBE2}" srcOrd="0" destOrd="0" presId="urn:microsoft.com/office/officeart/2008/layout/LinedList"/>
    <dgm:cxn modelId="{28BFD308-785B-4222-A788-5915AA929159}" type="presParOf" srcId="{B0778504-D35E-4CE2-BF3D-AE97107FB9AF}" destId="{80EE4942-9A40-4D2D-A00F-B8C037CFDDAD}" srcOrd="1" destOrd="0" presId="urn:microsoft.com/office/officeart/2008/layout/LinedList"/>
    <dgm:cxn modelId="{2EF60ADA-CA8A-445B-9167-E38BC55AD244}" type="presParOf" srcId="{8A55F84D-AF58-4268-9391-FE8A94A6F121}" destId="{86FBFF5A-8E9A-471E-88F0-6B0550A0A811}" srcOrd="2" destOrd="0" presId="urn:microsoft.com/office/officeart/2008/layout/LinedList"/>
    <dgm:cxn modelId="{10FAC235-BC5E-4DAD-9E81-DC1F0E54C1F6}" type="presParOf" srcId="{8A55F84D-AF58-4268-9391-FE8A94A6F121}" destId="{D2BC9F48-6E40-4716-A0E8-3A11C74B1C2F}" srcOrd="3" destOrd="0" presId="urn:microsoft.com/office/officeart/2008/layout/LinedList"/>
    <dgm:cxn modelId="{C2F6FBE2-CA8D-4AE9-A505-9E22330ED160}" type="presParOf" srcId="{D2BC9F48-6E40-4716-A0E8-3A11C74B1C2F}" destId="{6D6AA5C4-151F-43D3-9839-D30B89DED582}" srcOrd="0" destOrd="0" presId="urn:microsoft.com/office/officeart/2008/layout/LinedList"/>
    <dgm:cxn modelId="{56975D18-7012-4296-A380-9D5EB4A75783}" type="presParOf" srcId="{D2BC9F48-6E40-4716-A0E8-3A11C74B1C2F}" destId="{D8DF0B54-5FB7-453D-8F6A-E406C2384634}" srcOrd="1" destOrd="0" presId="urn:microsoft.com/office/officeart/2008/layout/LinedList"/>
    <dgm:cxn modelId="{DB75075E-40E0-43EF-AE1E-49D348C3C199}" type="presParOf" srcId="{8A55F84D-AF58-4268-9391-FE8A94A6F121}" destId="{E51EF85B-BF9C-4559-9B3C-A9EFB6B575AE}" srcOrd="4" destOrd="0" presId="urn:microsoft.com/office/officeart/2008/layout/LinedList"/>
    <dgm:cxn modelId="{C8E72D0E-76CE-4F99-AEA6-0D34AE5AA701}" type="presParOf" srcId="{8A55F84D-AF58-4268-9391-FE8A94A6F121}" destId="{C6F752D1-E48E-4A85-94B4-0A06DE708E69}" srcOrd="5" destOrd="0" presId="urn:microsoft.com/office/officeart/2008/layout/LinedList"/>
    <dgm:cxn modelId="{0E85E4BE-ABA0-4DB9-9B7B-CC2B50726A99}" type="presParOf" srcId="{C6F752D1-E48E-4A85-94B4-0A06DE708E69}" destId="{8CE6592C-8C9D-4EBF-B61F-4A3F3DA61938}" srcOrd="0" destOrd="0" presId="urn:microsoft.com/office/officeart/2008/layout/LinedList"/>
    <dgm:cxn modelId="{F618056F-1C72-4692-9F0F-086D02A3ECE4}" type="presParOf" srcId="{C6F752D1-E48E-4A85-94B4-0A06DE708E69}" destId="{5B622E6B-7AEA-4CFA-9282-65E37A93B23A}" srcOrd="1" destOrd="0" presId="urn:microsoft.com/office/officeart/2008/layout/LinedList"/>
    <dgm:cxn modelId="{D11A00CD-E983-4CCC-8C97-647224F2853D}" type="presParOf" srcId="{8A55F84D-AF58-4268-9391-FE8A94A6F121}" destId="{8186A3BD-D6C0-4C4F-B0FC-CD2E847947E6}" srcOrd="6" destOrd="0" presId="urn:microsoft.com/office/officeart/2008/layout/LinedList"/>
    <dgm:cxn modelId="{2D7C0779-C893-4314-8A75-105551F351B4}" type="presParOf" srcId="{8A55F84D-AF58-4268-9391-FE8A94A6F121}" destId="{2F4C739B-34FB-4419-A7FE-DD92A1A0435E}" srcOrd="7" destOrd="0" presId="urn:microsoft.com/office/officeart/2008/layout/LinedList"/>
    <dgm:cxn modelId="{099938C9-21BD-47AE-88B5-7FE69FDB26E1}" type="presParOf" srcId="{2F4C739B-34FB-4419-A7FE-DD92A1A0435E}" destId="{36115E4E-37F1-4CF1-A713-544BA8439649}" srcOrd="0" destOrd="0" presId="urn:microsoft.com/office/officeart/2008/layout/LinedList"/>
    <dgm:cxn modelId="{3E40B76D-B0B3-40A2-ABB5-EE508AF9C966}" type="presParOf" srcId="{2F4C739B-34FB-4419-A7FE-DD92A1A0435E}" destId="{ADCDF215-B1C2-48EA-900A-4B85654E5740}" srcOrd="1" destOrd="0" presId="urn:microsoft.com/office/officeart/2008/layout/LinedList"/>
    <dgm:cxn modelId="{BF23945C-07EE-4A2D-8366-3A25276105A8}" type="presParOf" srcId="{8A55F84D-AF58-4268-9391-FE8A94A6F121}" destId="{0C50E17E-ACAB-4A8B-AE3D-7D6DA4901A17}" srcOrd="8" destOrd="0" presId="urn:microsoft.com/office/officeart/2008/layout/LinedList"/>
    <dgm:cxn modelId="{A212DBD0-5224-4BC0-9219-7B1BD91DB370}" type="presParOf" srcId="{8A55F84D-AF58-4268-9391-FE8A94A6F121}" destId="{D4669573-8B58-487C-8D5F-CE110BB6DFE2}" srcOrd="9" destOrd="0" presId="urn:microsoft.com/office/officeart/2008/layout/LinedList"/>
    <dgm:cxn modelId="{F6F78A49-28C0-49C6-ABFE-7377875E5C8C}" type="presParOf" srcId="{D4669573-8B58-487C-8D5F-CE110BB6DFE2}" destId="{034179D1-DBDD-4C73-9089-51E6446C2F20}" srcOrd="0" destOrd="0" presId="urn:microsoft.com/office/officeart/2008/layout/LinedList"/>
    <dgm:cxn modelId="{18743BE9-6B76-46D8-A642-5F3B8D645BFC}" type="presParOf" srcId="{D4669573-8B58-487C-8D5F-CE110BB6DFE2}" destId="{2FE69E64-A7EF-4F6E-9D0C-9F217934188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DB76AA-CCD9-450E-B20A-B34CE3EFADE1}">
      <dsp:nvSpPr>
        <dsp:cNvPr id="0" name=""/>
        <dsp:cNvSpPr/>
      </dsp:nvSpPr>
      <dsp:spPr>
        <a:xfrm>
          <a:off x="601586" y="580"/>
          <a:ext cx="2631940" cy="1579164"/>
        </a:xfrm>
        <a:prstGeom prst="rect">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 reused the MovieLens 1M dataset, chronological 80/10/10 split and numerical user/film IDs.</a:t>
          </a:r>
          <a:endParaRPr lang="en-US" sz="1600" kern="1200" dirty="0"/>
        </a:p>
      </dsp:txBody>
      <dsp:txXfrm>
        <a:off x="601586" y="580"/>
        <a:ext cx="2631940" cy="1579164"/>
      </dsp:txXfrm>
    </dsp:sp>
    <dsp:sp modelId="{FDBFB708-0D91-4924-B135-E570C904FCFC}">
      <dsp:nvSpPr>
        <dsp:cNvPr id="0" name=""/>
        <dsp:cNvSpPr/>
      </dsp:nvSpPr>
      <dsp:spPr>
        <a:xfrm>
          <a:off x="3496721" y="580"/>
          <a:ext cx="2631940" cy="1579164"/>
        </a:xfrm>
        <a:prstGeom prst="rect">
          <a:avLst/>
        </a:prstGeom>
        <a:gradFill rotWithShape="0">
          <a:gsLst>
            <a:gs pos="0">
              <a:schemeClr val="accent2">
                <a:hueOff val="-3953144"/>
                <a:satOff val="180"/>
                <a:lumOff val="0"/>
                <a:alphaOff val="0"/>
                <a:tint val="98000"/>
                <a:lumMod val="114000"/>
              </a:schemeClr>
            </a:gs>
            <a:gs pos="100000">
              <a:schemeClr val="accent2">
                <a:hueOff val="-3953144"/>
                <a:satOff val="18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 created embedding layers with 32 dimensions for each user and film.</a:t>
          </a:r>
          <a:endParaRPr lang="en-US" sz="1600" kern="1200" dirty="0"/>
        </a:p>
      </dsp:txBody>
      <dsp:txXfrm>
        <a:off x="3496721" y="580"/>
        <a:ext cx="2631940" cy="1579164"/>
      </dsp:txXfrm>
    </dsp:sp>
    <dsp:sp modelId="{D5A80539-3489-4A61-BFC7-6DA94D94FC22}">
      <dsp:nvSpPr>
        <dsp:cNvPr id="0" name=""/>
        <dsp:cNvSpPr/>
      </dsp:nvSpPr>
      <dsp:spPr>
        <a:xfrm>
          <a:off x="6391855" y="580"/>
          <a:ext cx="2631940" cy="1579164"/>
        </a:xfrm>
        <a:prstGeom prst="rect">
          <a:avLst/>
        </a:prstGeom>
        <a:gradFill rotWithShape="0">
          <a:gsLst>
            <a:gs pos="0">
              <a:schemeClr val="accent2">
                <a:hueOff val="-7906288"/>
                <a:satOff val="360"/>
                <a:lumOff val="0"/>
                <a:alphaOff val="0"/>
                <a:tint val="98000"/>
                <a:lumMod val="114000"/>
              </a:schemeClr>
            </a:gs>
            <a:gs pos="100000">
              <a:schemeClr val="accent2">
                <a:hueOff val="-7906288"/>
                <a:satOff val="360"/>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 combined the embeddings and passed them through two dense layers containing 64 and 32 neurons, using ReLU activation.</a:t>
          </a:r>
          <a:endParaRPr lang="en-US" sz="1600" kern="1200" dirty="0"/>
        </a:p>
      </dsp:txBody>
      <dsp:txXfrm>
        <a:off x="6391855" y="580"/>
        <a:ext cx="2631940" cy="1579164"/>
      </dsp:txXfrm>
    </dsp:sp>
    <dsp:sp modelId="{0B7B5BCD-9073-475F-A7CF-17ED6C67608D}">
      <dsp:nvSpPr>
        <dsp:cNvPr id="0" name=""/>
        <dsp:cNvSpPr/>
      </dsp:nvSpPr>
      <dsp:spPr>
        <a:xfrm>
          <a:off x="601586" y="1842938"/>
          <a:ext cx="2631940" cy="1579164"/>
        </a:xfrm>
        <a:prstGeom prst="rect">
          <a:avLst/>
        </a:prstGeom>
        <a:gradFill rotWithShape="0">
          <a:gsLst>
            <a:gs pos="0">
              <a:schemeClr val="accent2">
                <a:hueOff val="-11859433"/>
                <a:satOff val="541"/>
                <a:lumOff val="0"/>
                <a:alphaOff val="0"/>
                <a:tint val="98000"/>
                <a:lumMod val="114000"/>
              </a:schemeClr>
            </a:gs>
            <a:gs pos="100000">
              <a:schemeClr val="accent2">
                <a:hueOff val="-11859433"/>
                <a:satOff val="54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 used a sigmoid output, rescaled to predict ratings between 1 and 5.</a:t>
          </a:r>
          <a:endParaRPr lang="en-US" sz="1600" kern="1200" dirty="0"/>
        </a:p>
      </dsp:txBody>
      <dsp:txXfrm>
        <a:off x="601586" y="1842938"/>
        <a:ext cx="2631940" cy="1579164"/>
      </dsp:txXfrm>
    </dsp:sp>
    <dsp:sp modelId="{6A53BB59-E958-4BD3-8DFB-F9E9DA0CEBFD}">
      <dsp:nvSpPr>
        <dsp:cNvPr id="0" name=""/>
        <dsp:cNvSpPr/>
      </dsp:nvSpPr>
      <dsp:spPr>
        <a:xfrm>
          <a:off x="3496721" y="1842938"/>
          <a:ext cx="2631940" cy="1579164"/>
        </a:xfrm>
        <a:prstGeom prst="rect">
          <a:avLst/>
        </a:prstGeom>
        <a:gradFill rotWithShape="0">
          <a:gsLst>
            <a:gs pos="0">
              <a:schemeClr val="accent2">
                <a:hueOff val="-15812576"/>
                <a:satOff val="721"/>
                <a:lumOff val="0"/>
                <a:alphaOff val="0"/>
                <a:tint val="98000"/>
                <a:lumMod val="114000"/>
              </a:schemeClr>
            </a:gs>
            <a:gs pos="100000">
              <a:schemeClr val="accent2">
                <a:hueOff val="-15812576"/>
                <a:satOff val="72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 compiled the model using the Adam optimiser (learning rate 0.001) and Mean Squared Error loss.</a:t>
          </a:r>
          <a:endParaRPr lang="en-US" sz="1600" kern="1200" dirty="0"/>
        </a:p>
      </dsp:txBody>
      <dsp:txXfrm>
        <a:off x="3496721" y="1842938"/>
        <a:ext cx="2631940" cy="1579164"/>
      </dsp:txXfrm>
    </dsp:sp>
    <dsp:sp modelId="{C366DD29-6E84-40E5-A5AB-CB4D0435896B}">
      <dsp:nvSpPr>
        <dsp:cNvPr id="0" name=""/>
        <dsp:cNvSpPr/>
      </dsp:nvSpPr>
      <dsp:spPr>
        <a:xfrm>
          <a:off x="6391855" y="1842938"/>
          <a:ext cx="2631940" cy="1579164"/>
        </a:xfrm>
        <a:prstGeom prst="rect">
          <a:avLst/>
        </a:prstGeom>
        <a:gradFill rotWithShape="0">
          <a:gsLst>
            <a:gs pos="0">
              <a:schemeClr val="accent2">
                <a:hueOff val="-19765721"/>
                <a:satOff val="901"/>
                <a:lumOff val="0"/>
                <a:alphaOff val="0"/>
                <a:tint val="98000"/>
                <a:lumMod val="114000"/>
              </a:schemeClr>
            </a:gs>
            <a:gs pos="100000">
              <a:schemeClr val="accent2">
                <a:hueOff val="-19765721"/>
                <a:satOff val="901"/>
                <a:lumOff val="0"/>
                <a:alphaOff val="0"/>
                <a:shade val="90000"/>
                <a:lumMod val="84000"/>
              </a:schemeClr>
            </a:gs>
          </a:gsLst>
          <a:lin ang="5400000" scaled="0"/>
        </a:gradFill>
        <a:ln>
          <a:noFill/>
        </a:ln>
        <a:effectLst>
          <a:outerShdw blurRad="38100" dist="25400" dir="5400000" rotWithShape="0">
            <a:srgbClr val="000000">
              <a:alpha val="4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GB" sz="1600" kern="1200" dirty="0"/>
            <a:t>I trained the model with a maximum of 20 epochs, using early stopping to reduce the risk of overfitting.</a:t>
          </a:r>
          <a:endParaRPr lang="en-US" sz="1600" kern="1200" dirty="0"/>
        </a:p>
      </dsp:txBody>
      <dsp:txXfrm>
        <a:off x="6391855" y="1842938"/>
        <a:ext cx="2631940" cy="15791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93B597-8C66-4982-9438-B45BD0271488}">
      <dsp:nvSpPr>
        <dsp:cNvPr id="0" name=""/>
        <dsp:cNvSpPr/>
      </dsp:nvSpPr>
      <dsp:spPr>
        <a:xfrm>
          <a:off x="0" y="558"/>
          <a:ext cx="5190066"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28747A-B9FF-4855-AFC7-8D5BD66ECBE2}">
      <dsp:nvSpPr>
        <dsp:cNvPr id="0" name=""/>
        <dsp:cNvSpPr/>
      </dsp:nvSpPr>
      <dsp:spPr>
        <a:xfrm>
          <a:off x="0" y="558"/>
          <a:ext cx="5190066"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b="0" i="0" kern="1200" dirty="0"/>
            <a:t>Exploratory data analysis showed uneven distributions of ratings across users and films.</a:t>
          </a:r>
          <a:endParaRPr lang="en-US" sz="1400" kern="1200" dirty="0"/>
        </a:p>
      </dsp:txBody>
      <dsp:txXfrm>
        <a:off x="0" y="558"/>
        <a:ext cx="5190066" cy="914176"/>
      </dsp:txXfrm>
    </dsp:sp>
    <dsp:sp modelId="{86FBFF5A-8E9A-471E-88F0-6B0550A0A811}">
      <dsp:nvSpPr>
        <dsp:cNvPr id="0" name=""/>
        <dsp:cNvSpPr/>
      </dsp:nvSpPr>
      <dsp:spPr>
        <a:xfrm>
          <a:off x="0" y="914734"/>
          <a:ext cx="5190066"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D6AA5C4-151F-43D3-9839-D30B89DED582}">
      <dsp:nvSpPr>
        <dsp:cNvPr id="0" name=""/>
        <dsp:cNvSpPr/>
      </dsp:nvSpPr>
      <dsp:spPr>
        <a:xfrm>
          <a:off x="0" y="914734"/>
          <a:ext cx="5190066"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b="0" i="0" kern="1200" dirty="0"/>
            <a:t>There is a risk that models will learn the most from frequently rated films and highly active users.</a:t>
          </a:r>
          <a:endParaRPr lang="en-US" sz="1400" kern="1200" dirty="0"/>
        </a:p>
      </dsp:txBody>
      <dsp:txXfrm>
        <a:off x="0" y="914734"/>
        <a:ext cx="5190066" cy="914176"/>
      </dsp:txXfrm>
    </dsp:sp>
    <dsp:sp modelId="{E51EF85B-BF9C-4559-9B3C-A9EFB6B575AE}">
      <dsp:nvSpPr>
        <dsp:cNvPr id="0" name=""/>
        <dsp:cNvSpPr/>
      </dsp:nvSpPr>
      <dsp:spPr>
        <a:xfrm>
          <a:off x="0" y="1828911"/>
          <a:ext cx="5190066"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E6592C-8C9D-4EBF-B61F-4A3F3DA61938}">
      <dsp:nvSpPr>
        <dsp:cNvPr id="0" name=""/>
        <dsp:cNvSpPr/>
      </dsp:nvSpPr>
      <dsp:spPr>
        <a:xfrm>
          <a:off x="0" y="1828911"/>
          <a:ext cx="5190066"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b="0" i="0" kern="1200" dirty="0"/>
            <a:t>This could put less popular films at a disadvantage and provide less helpful recommendations to users with limited rating histories.</a:t>
          </a:r>
          <a:endParaRPr lang="en-US" sz="1400" kern="1200" dirty="0"/>
        </a:p>
      </dsp:txBody>
      <dsp:txXfrm>
        <a:off x="0" y="1828911"/>
        <a:ext cx="5190066" cy="914176"/>
      </dsp:txXfrm>
    </dsp:sp>
    <dsp:sp modelId="{8186A3BD-D6C0-4C4F-B0FC-CD2E847947E6}">
      <dsp:nvSpPr>
        <dsp:cNvPr id="0" name=""/>
        <dsp:cNvSpPr/>
      </dsp:nvSpPr>
      <dsp:spPr>
        <a:xfrm>
          <a:off x="0" y="2743088"/>
          <a:ext cx="5190066"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6115E4E-37F1-4CF1-A713-544BA8439649}">
      <dsp:nvSpPr>
        <dsp:cNvPr id="0" name=""/>
        <dsp:cNvSpPr/>
      </dsp:nvSpPr>
      <dsp:spPr>
        <a:xfrm>
          <a:off x="0" y="2743088"/>
          <a:ext cx="5190066"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b="0" i="0" kern="1200" dirty="0"/>
            <a:t>MovieLens 1M contains demographic information, allowing the representation of different user groups to be examined and considered within our recommender system.</a:t>
          </a:r>
          <a:endParaRPr lang="en-US" sz="1400" kern="1200" dirty="0"/>
        </a:p>
      </dsp:txBody>
      <dsp:txXfrm>
        <a:off x="0" y="2743088"/>
        <a:ext cx="5190066" cy="914176"/>
      </dsp:txXfrm>
    </dsp:sp>
    <dsp:sp modelId="{0C50E17E-ACAB-4A8B-AE3D-7D6DA4901A17}">
      <dsp:nvSpPr>
        <dsp:cNvPr id="0" name=""/>
        <dsp:cNvSpPr/>
      </dsp:nvSpPr>
      <dsp:spPr>
        <a:xfrm>
          <a:off x="0" y="3657265"/>
          <a:ext cx="5190066"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34179D1-DBDD-4C73-9089-51E6446C2F20}">
      <dsp:nvSpPr>
        <dsp:cNvPr id="0" name=""/>
        <dsp:cNvSpPr/>
      </dsp:nvSpPr>
      <dsp:spPr>
        <a:xfrm>
          <a:off x="0" y="3657265"/>
          <a:ext cx="5190066" cy="9141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GB" sz="1400" b="0" i="0" kern="1200" dirty="0"/>
            <a:t>However, the above points raise questions about fairness, representation and whether the dataset reflects the wider population of potential users.</a:t>
          </a:r>
          <a:endParaRPr lang="en-US" sz="1400" kern="1200" dirty="0"/>
        </a:p>
      </dsp:txBody>
      <dsp:txXfrm>
        <a:off x="0" y="3657265"/>
        <a:ext cx="5190066" cy="91417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B94D2E-832E-4454-88B1-C6C215C9E55C}" type="datetimeFigureOut">
              <a:rPr lang="en-US" smtClean="0"/>
              <a:t>10/11/2026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0A0A09-6FA2-432A-878F-290AC51C7288}" type="slidenum">
              <a:rPr lang="en-US" smtClean="0"/>
              <a:t>‹#›</a:t>
            </a:fld>
            <a:endParaRPr lang="en-US" dirty="0"/>
          </a:p>
        </p:txBody>
      </p:sp>
    </p:spTree>
    <p:extLst>
      <p:ext uri="{BB962C8B-B14F-4D97-AF65-F5344CB8AC3E}">
        <p14:creationId xmlns:p14="http://schemas.microsoft.com/office/powerpoint/2010/main" val="3004936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This distribution seems reasonable to me.  I'd expect people who've watched a film all the way to the end would have enjoyed it and would rank it as 3 or above.  5 is likely to be reserved for exceptional films.  A ranking of 1 or 2 may well mean that someone else made them watch it!</a:t>
            </a:r>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4</a:t>
            </a:fld>
            <a:endParaRPr lang="en-US" dirty="0"/>
          </a:p>
        </p:txBody>
      </p:sp>
    </p:spTree>
    <p:extLst>
      <p:ext uri="{BB962C8B-B14F-4D97-AF65-F5344CB8AC3E}">
        <p14:creationId xmlns:p14="http://schemas.microsoft.com/office/powerpoint/2010/main" val="110962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This chart also looks more or less as I would expect. Some users have a lot of time on their hands and are watching thousands of films. Most users watch a few films, Some have watched only a handful. Will these two tail-ends skew our recommender? Possibly not if we are able to take user features into account within our model. It could actually be helpful.</a:t>
            </a:r>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5</a:t>
            </a:fld>
            <a:endParaRPr lang="en-US" dirty="0"/>
          </a:p>
        </p:txBody>
      </p:sp>
    </p:spTree>
    <p:extLst>
      <p:ext uri="{BB962C8B-B14F-4D97-AF65-F5344CB8AC3E}">
        <p14:creationId xmlns:p14="http://schemas.microsoft.com/office/powerpoint/2010/main" val="2223299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Some films have been watched by a lot of people. This is expected. The "Blockbuster" films will be watched by multiple people whilst the smaller studio releases will have received less advertising and people may have come across them more by accident than by design. If I worked for a smaller studio, I might want to create a recommender system that was biased towards those titles with high but fewer rankings.</a:t>
            </a:r>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6</a:t>
            </a:fld>
            <a:endParaRPr lang="en-US" dirty="0"/>
          </a:p>
        </p:txBody>
      </p:sp>
    </p:spTree>
    <p:extLst>
      <p:ext uri="{BB962C8B-B14F-4D97-AF65-F5344CB8AC3E}">
        <p14:creationId xmlns:p14="http://schemas.microsoft.com/office/powerpoint/2010/main" val="1257568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Films can belong to more than one genre, so the overall total of films per genre could be greater than the overall total of films.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Drama and Comedy are the two most highly represented genres.  I think this chart accurately represents the types of film available to be watched.  Fantasy, Western and Film-Noir are at the bottom of the list and these are certainly less popular genres overall.  If only Film-Noir "buffs" watch the Film-Noir films, does this mean that the ratings for these items could be disproportionately high compared to the ratings for the dramas, which will be watched by a much broader range of people?</a:t>
            </a:r>
          </a:p>
          <a:p>
            <a:endParaRPr lang="en-GB" sz="1200" b="0" i="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7</a:t>
            </a:fld>
            <a:endParaRPr lang="en-US" dirty="0"/>
          </a:p>
        </p:txBody>
      </p:sp>
    </p:spTree>
    <p:extLst>
      <p:ext uri="{BB962C8B-B14F-4D97-AF65-F5344CB8AC3E}">
        <p14:creationId xmlns:p14="http://schemas.microsoft.com/office/powerpoint/2010/main" val="32677702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We can see that there are roughly twice as many men watching films as women.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In terms of age groups, it seems to be people in their mid twenties who are watching the most films.   Again - will this affect the recommender systems?  Or does that kind of information improve the recommendations if it's used correctly?</a:t>
            </a:r>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8</a:t>
            </a:fld>
            <a:endParaRPr lang="en-US" dirty="0"/>
          </a:p>
        </p:txBody>
      </p:sp>
    </p:spTree>
    <p:extLst>
      <p:ext uri="{BB962C8B-B14F-4D97-AF65-F5344CB8AC3E}">
        <p14:creationId xmlns:p14="http://schemas.microsoft.com/office/powerpoint/2010/main" val="3981467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285750" lvl="0" indent="-285750">
              <a:buClr>
                <a:schemeClr val="accent1"/>
              </a:buClr>
              <a:buSzPct val="80000"/>
              <a:buFont typeface="Arial" panose="020B0604020202020204" pitchFamily="34" charset="0"/>
              <a:buChar char="•"/>
            </a:pPr>
            <a:r>
              <a:rPr lang="en-GB" dirty="0"/>
              <a:t>I pre-processed the data – sorted by timestamp and split data 80/10/10 (Training/validation/test)</a:t>
            </a:r>
          </a:p>
          <a:p>
            <a:pPr marL="285750" lvl="0" indent="-285750">
              <a:buClr>
                <a:schemeClr val="accent1"/>
              </a:buClr>
              <a:buSzPct val="80000"/>
              <a:buFont typeface="Arial" panose="020B0604020202020204" pitchFamily="34" charset="0"/>
              <a:buChar char="•"/>
            </a:pPr>
            <a:r>
              <a:rPr lang="en-GB" dirty="0"/>
              <a:t>I built baselines – created a global mean predictor and a bias baseline for user and film rating biases</a:t>
            </a:r>
          </a:p>
          <a:p>
            <a:pPr marL="285750" lvl="0" indent="-285750">
              <a:buClr>
                <a:schemeClr val="accent1"/>
              </a:buClr>
              <a:buSzPct val="80000"/>
              <a:buFont typeface="Arial" panose="020B0604020202020204" pitchFamily="34" charset="0"/>
              <a:buChar char="•"/>
            </a:pPr>
            <a:r>
              <a:rPr lang="en-GB" dirty="0"/>
              <a:t>I converted user IDs and film IDs to consecutive numerical indices.  This is because the IDs were not consecutive numbers and it’s easier to process the data if they are.  E.g. as there are 3,706 films, these will now be indexed as 0-3705.</a:t>
            </a:r>
          </a:p>
          <a:p>
            <a:pPr marL="285750" lvl="0" indent="-285750">
              <a:buClr>
                <a:schemeClr val="accent1"/>
              </a:buClr>
              <a:buSzPct val="80000"/>
              <a:buFont typeface="Arial" panose="020B0604020202020204" pitchFamily="34" charset="0"/>
              <a:buChar char="•"/>
            </a:pPr>
            <a:r>
              <a:rPr lang="en-GB" dirty="0"/>
              <a:t>I initialised the model.  This involved creating two matrices – P and Q, with 32 latent factors per user and film, plus user and film bias terms.  This works more efficiently because of the numerical mapping above.  These factors were adjusted during training, having begun as random.</a:t>
            </a:r>
          </a:p>
          <a:p>
            <a:pPr marL="285750" lvl="0" indent="-285750">
              <a:buClr>
                <a:schemeClr val="accent1"/>
              </a:buClr>
              <a:buSzPct val="80000"/>
              <a:buFont typeface="Arial" panose="020B0604020202020204" pitchFamily="34" charset="0"/>
              <a:buChar char="•"/>
            </a:pPr>
            <a:r>
              <a:rPr lang="en-GB" dirty="0"/>
              <a:t>I trained the model using Stochastic Gradient Descent (SGD) over ten epochs to adjust latent factors and biases, thereby minimising the differences between predicted and actual ratings and adding regularisation to reduce the risk of overfitting.  I started with 30 epochs.  When I saw the RMSE start to rise in VAL after 10, I re-ran with just ten epochs.</a:t>
            </a:r>
          </a:p>
          <a:p>
            <a:pPr marL="285750" lvl="0" indent="-285750">
              <a:buClr>
                <a:schemeClr val="accent1"/>
              </a:buClr>
              <a:buSzPct val="80000"/>
              <a:buFont typeface="Arial" panose="020B0604020202020204" pitchFamily="34" charset="0"/>
              <a:buChar char="•"/>
            </a:pPr>
            <a:r>
              <a:rPr lang="en-GB" dirty="0"/>
              <a:t>I evaluated the predictions.  I looked at training and validation RMSE, MAE and NDCG@10, calculated test RMSE and MAE and reviewed ranked film recommendations.</a:t>
            </a:r>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10</a:t>
            </a:fld>
            <a:endParaRPr lang="en-US" dirty="0"/>
          </a:p>
        </p:txBody>
      </p:sp>
    </p:spTree>
    <p:extLst>
      <p:ext uri="{BB962C8B-B14F-4D97-AF65-F5344CB8AC3E}">
        <p14:creationId xmlns:p14="http://schemas.microsoft.com/office/powerpoint/2010/main" val="3790028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t>Sparsity rating means that most users haven’t given a rating for most films.  </a:t>
            </a:r>
          </a:p>
          <a:p>
            <a:r>
              <a:rPr lang="en-GB" dirty="0"/>
              <a:t>This could affect the quality of the recommendations.</a:t>
            </a:r>
          </a:p>
          <a:p>
            <a:endParaRPr lang="en-GB" dirty="0"/>
          </a:p>
          <a:p>
            <a:r>
              <a:rPr lang="en-GB" dirty="0"/>
              <a:t>Could have chosen to only look at films and users with high numbers of ratings, but that would not be a real-world situation.</a:t>
            </a:r>
          </a:p>
        </p:txBody>
      </p:sp>
      <p:sp>
        <p:nvSpPr>
          <p:cNvPr id="4" name="Slide Number Placeholder 3"/>
          <p:cNvSpPr>
            <a:spLocks noGrp="1"/>
          </p:cNvSpPr>
          <p:nvPr>
            <p:ph type="sldNum" sz="quarter" idx="5"/>
          </p:nvPr>
        </p:nvSpPr>
        <p:spPr/>
        <p:txBody>
          <a:bodyPr/>
          <a:lstStyle/>
          <a:p>
            <a:fld id="{E40A0A09-6FA2-432A-878F-290AC51C7288}" type="slidenum">
              <a:rPr lang="en-US" smtClean="0"/>
              <a:t>11</a:t>
            </a:fld>
            <a:endParaRPr lang="en-US" dirty="0"/>
          </a:p>
        </p:txBody>
      </p:sp>
    </p:spTree>
    <p:extLst>
      <p:ext uri="{BB962C8B-B14F-4D97-AF65-F5344CB8AC3E}">
        <p14:creationId xmlns:p14="http://schemas.microsoft.com/office/powerpoint/2010/main" val="33470301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dirty="0"/>
              <a:t>RMSE = Root Mean Squared Error. The values are squared, meaning that the number is higher than the MAE for the same errors. 0 is perfection.</a:t>
            </a:r>
          </a:p>
          <a:p>
            <a:endParaRPr lang="en-GB" sz="500" dirty="0"/>
          </a:p>
          <a:p>
            <a:r>
              <a:rPr lang="en-GB" sz="1200" dirty="0"/>
              <a:t>MAE = Mean Absolute Error. An MAE of 1.26 means that the predicted rating is different to the actual rating by roughly 1.26 rating points. The number is lower than the RMSE for the same errors because the numbers are not squared. 0 is perfection.</a:t>
            </a:r>
          </a:p>
          <a:p>
            <a:endParaRPr lang="en-GB" sz="1200" dirty="0"/>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12</a:t>
            </a:fld>
            <a:endParaRPr lang="en-US" dirty="0"/>
          </a:p>
        </p:txBody>
      </p:sp>
    </p:spTree>
    <p:extLst>
      <p:ext uri="{BB962C8B-B14F-4D97-AF65-F5344CB8AC3E}">
        <p14:creationId xmlns:p14="http://schemas.microsoft.com/office/powerpoint/2010/main" val="5047919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NDCG@10 Normalised Discounted Cumulative Gain.  1 = perfect.</a:t>
            </a:r>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13</a:t>
            </a:fld>
            <a:endParaRPr lang="en-US" dirty="0"/>
          </a:p>
        </p:txBody>
      </p:sp>
    </p:spTree>
    <p:extLst>
      <p:ext uri="{BB962C8B-B14F-4D97-AF65-F5344CB8AC3E}">
        <p14:creationId xmlns:p14="http://schemas.microsoft.com/office/powerpoint/2010/main" val="36178291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predicted top rating here shows 5.01.  I haven’t properly set the model to stay between 1 and 5.  I would correct that before deployment.</a:t>
            </a:r>
          </a:p>
        </p:txBody>
      </p:sp>
      <p:sp>
        <p:nvSpPr>
          <p:cNvPr id="4" name="Slide Number Placeholder 3"/>
          <p:cNvSpPr>
            <a:spLocks noGrp="1"/>
          </p:cNvSpPr>
          <p:nvPr>
            <p:ph type="sldNum" sz="quarter" idx="5"/>
          </p:nvPr>
        </p:nvSpPr>
        <p:spPr/>
        <p:txBody>
          <a:bodyPr/>
          <a:lstStyle/>
          <a:p>
            <a:fld id="{E40A0A09-6FA2-432A-878F-290AC51C7288}" type="slidenum">
              <a:rPr lang="en-US" smtClean="0"/>
              <a:t>15</a:t>
            </a:fld>
            <a:endParaRPr lang="en-US" dirty="0"/>
          </a:p>
        </p:txBody>
      </p:sp>
    </p:spTree>
    <p:extLst>
      <p:ext uri="{BB962C8B-B14F-4D97-AF65-F5344CB8AC3E}">
        <p14:creationId xmlns:p14="http://schemas.microsoft.com/office/powerpoint/2010/main" val="1054704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16</a:t>
            </a:fld>
            <a:endParaRPr lang="en-US" dirty="0"/>
          </a:p>
        </p:txBody>
      </p:sp>
    </p:spTree>
    <p:extLst>
      <p:ext uri="{BB962C8B-B14F-4D97-AF65-F5344CB8AC3E}">
        <p14:creationId xmlns:p14="http://schemas.microsoft.com/office/powerpoint/2010/main" val="1326513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E0DA5-4ABB-E9FD-A396-B33DFA73E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B4217-A800-99AC-3A77-D555BCC54BB4}"/>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9545C341-443B-3578-2FEC-49E946404E8B}"/>
              </a:ext>
            </a:extLst>
          </p:cNvPr>
          <p:cNvSpPr>
            <a:spLocks noGrp="1"/>
          </p:cNvSpPr>
          <p:nvPr>
            <p:ph type="body" idx="1"/>
          </p:nvPr>
        </p:nvSpPr>
        <p:spPr/>
        <p:txBody>
          <a:bodyPr/>
          <a:lstStyle/>
          <a:p>
            <a:r>
              <a:rPr lang="en-GB" dirty="0"/>
              <a:t>Embeddings are similar to latent factors in matrix factorisation.  NCF passes them through additional neural-network layers to learn more complex, nonlinear relationships</a:t>
            </a:r>
          </a:p>
          <a:p>
            <a:pPr marL="285750" lvl="0" indent="-285750">
              <a:buClr>
                <a:schemeClr val="accent1"/>
              </a:buClr>
              <a:buSzPct val="80000"/>
              <a:buFont typeface="Arial" panose="020B0604020202020204" pitchFamily="34" charset="0"/>
              <a:buChar char="•"/>
            </a:pPr>
            <a:r>
              <a:rPr lang="en-GB" dirty="0"/>
              <a:t>1. Same notebook, so no need to reload data.</a:t>
            </a:r>
          </a:p>
          <a:p>
            <a:pPr marL="285750" lvl="0" indent="-285750">
              <a:buClr>
                <a:schemeClr val="accent1"/>
              </a:buClr>
              <a:buSzPct val="80000"/>
              <a:buFont typeface="Arial" panose="020B0604020202020204" pitchFamily="34" charset="0"/>
              <a:buChar char="•"/>
            </a:pPr>
            <a:r>
              <a:rPr lang="en-GB" dirty="0"/>
              <a:t>2. Created user and film embeddings – same as 32 latent factors in the traditional model.</a:t>
            </a:r>
          </a:p>
          <a:p>
            <a:pPr marL="285750" lvl="0" indent="-285750">
              <a:buClr>
                <a:schemeClr val="accent1"/>
              </a:buClr>
              <a:buSzPct val="80000"/>
              <a:buFont typeface="Arial" panose="020B0604020202020204" pitchFamily="34" charset="0"/>
              <a:buChar char="•"/>
            </a:pPr>
            <a:r>
              <a:rPr lang="en-GB" dirty="0"/>
              <a:t>3. Built neural network layers</a:t>
            </a:r>
          </a:p>
          <a:p>
            <a:pPr marL="285750" lvl="0" indent="-285750">
              <a:buClr>
                <a:schemeClr val="accent1"/>
              </a:buClr>
              <a:buSzPct val="80000"/>
              <a:buFont typeface="Arial" panose="020B0604020202020204" pitchFamily="34" charset="0"/>
              <a:buChar char="•"/>
            </a:pPr>
            <a:r>
              <a:rPr lang="en-GB" dirty="0"/>
              <a:t>4. Used sigmoid output – rescaled to predict ratings between 1 and 5</a:t>
            </a:r>
          </a:p>
          <a:p>
            <a:pPr marL="285750" lvl="0" indent="-285750">
              <a:buClr>
                <a:schemeClr val="accent1"/>
              </a:buClr>
              <a:buSzPct val="80000"/>
              <a:buFont typeface="Arial" panose="020B0604020202020204" pitchFamily="34" charset="0"/>
              <a:buChar char="•"/>
            </a:pPr>
            <a:r>
              <a:rPr lang="en-GB" dirty="0"/>
              <a:t>5. Compiled the model with Adam (Adaptive Moment Estimation).  Uses a moving average of previous gradients and adaptive learning rates.</a:t>
            </a:r>
          </a:p>
          <a:p>
            <a:pPr marL="285750" lvl="0" indent="-285750">
              <a:buClr>
                <a:schemeClr val="accent1"/>
              </a:buClr>
              <a:buSzPct val="80000"/>
              <a:buFont typeface="Arial" panose="020B0604020202020204" pitchFamily="34" charset="0"/>
              <a:buChar char="•"/>
            </a:pPr>
            <a:r>
              <a:rPr lang="en-GB" dirty="0"/>
              <a:t>6. </a:t>
            </a:r>
            <a:r>
              <a:rPr lang="en-GB" sz="1200" b="0" i="0" kern="1200" dirty="0">
                <a:solidFill>
                  <a:schemeClr val="tx1"/>
                </a:solidFill>
                <a:effectLst/>
                <a:latin typeface="+mn-lt"/>
                <a:ea typeface="+mn-ea"/>
                <a:cs typeface="+mn-cs"/>
              </a:rPr>
              <a:t>Early stopping is used to monitor the validation RMSE. It will stop if the performance doesn't improve for 3 consecutive epochs. Whereas I manually stopped the training after ten epochs in the traditional model.</a:t>
            </a:r>
          </a:p>
          <a:p>
            <a:endParaRPr lang="en-GB" dirty="0"/>
          </a:p>
        </p:txBody>
      </p:sp>
      <p:sp>
        <p:nvSpPr>
          <p:cNvPr id="4" name="Slide Number Placeholder 3">
            <a:extLst>
              <a:ext uri="{FF2B5EF4-FFF2-40B4-BE49-F238E27FC236}">
                <a16:creationId xmlns:a16="http://schemas.microsoft.com/office/drawing/2014/main" id="{3E819ABF-B401-8E2F-AC65-D4B7E1D30CA2}"/>
              </a:ext>
            </a:extLst>
          </p:cNvPr>
          <p:cNvSpPr>
            <a:spLocks noGrp="1"/>
          </p:cNvSpPr>
          <p:nvPr>
            <p:ph type="sldNum" sz="quarter" idx="5"/>
          </p:nvPr>
        </p:nvSpPr>
        <p:spPr/>
        <p:txBody>
          <a:bodyPr/>
          <a:lstStyle/>
          <a:p>
            <a:fld id="{E40A0A09-6FA2-432A-878F-290AC51C7288}" type="slidenum">
              <a:rPr lang="en-US" smtClean="0"/>
              <a:t>19</a:t>
            </a:fld>
            <a:endParaRPr lang="en-US" dirty="0"/>
          </a:p>
        </p:txBody>
      </p:sp>
    </p:spTree>
    <p:extLst>
      <p:ext uri="{BB962C8B-B14F-4D97-AF65-F5344CB8AC3E}">
        <p14:creationId xmlns:p14="http://schemas.microsoft.com/office/powerpoint/2010/main" val="8437685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20</a:t>
            </a:fld>
            <a:endParaRPr lang="en-US" dirty="0"/>
          </a:p>
        </p:txBody>
      </p:sp>
    </p:spTree>
    <p:extLst>
      <p:ext uri="{BB962C8B-B14F-4D97-AF65-F5344CB8AC3E}">
        <p14:creationId xmlns:p14="http://schemas.microsoft.com/office/powerpoint/2010/main" val="36218017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4579D-4506-0E00-66A1-2BF3DD7D2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F82D6-D9BB-BB50-1DD3-F7518521957B}"/>
              </a:ext>
            </a:extLst>
          </p:cNvPr>
          <p:cNvSpPr>
            <a:spLocks noGrp="1" noRot="1" noChangeAspect="1"/>
          </p:cNvSpPr>
          <p:nvPr>
            <p:ph type="sldImg"/>
          </p:nvPr>
        </p:nvSpPr>
        <p:spPr/>
        <p:txBody>
          <a:bodyPr/>
          <a:lstStyle/>
          <a:p>
            <a:endParaRPr lang="en-GB" dirty="0"/>
          </a:p>
        </p:txBody>
      </p:sp>
      <p:sp>
        <p:nvSpPr>
          <p:cNvPr id="3" name="Notes Placeholder 2">
            <a:extLst>
              <a:ext uri="{FF2B5EF4-FFF2-40B4-BE49-F238E27FC236}">
                <a16:creationId xmlns:a16="http://schemas.microsoft.com/office/drawing/2014/main" id="{76530920-5496-42F7-038E-4CC26E2A40F2}"/>
              </a:ext>
            </a:extLst>
          </p:cNvPr>
          <p:cNvSpPr>
            <a:spLocks noGrp="1"/>
          </p:cNvSpPr>
          <p:nvPr>
            <p:ph type="body" idx="1"/>
          </p:nvPr>
        </p:nvSpPr>
        <p:spPr/>
        <p:txBody>
          <a:bodyPr/>
          <a:lstStyle/>
          <a:p>
            <a:r>
              <a:rPr lang="en-GB" sz="1200" dirty="0"/>
              <a:t>There is a widening gap between the training and validation RMSE. The validation RMSE holds relatively steady. The training RMSE decreases.</a:t>
            </a:r>
          </a:p>
          <a:p>
            <a:endParaRPr lang="en-GB" sz="1200" dirty="0"/>
          </a:p>
          <a:p>
            <a:r>
              <a:rPr lang="en-GB" sz="1200" dirty="0"/>
              <a:t>This suggests a risk of overfitting because the training errors are reducing whilst the validation errors are barely improving.   It’s learning things from the training data that are not always true in the validation data.</a:t>
            </a:r>
          </a:p>
          <a:p>
            <a:endParaRPr lang="en-GB" sz="1200" dirty="0"/>
          </a:p>
          <a:p>
            <a:r>
              <a:rPr lang="en-GB" sz="1200" dirty="0"/>
              <a:t>RMSE = Root Mean Squared Error. 0 is perfection.</a:t>
            </a:r>
          </a:p>
          <a:p>
            <a:endParaRPr lang="en-GB" sz="500" dirty="0"/>
          </a:p>
          <a:p>
            <a:r>
              <a:rPr lang="en-GB" sz="1200" dirty="0"/>
              <a:t>MAE = Mean Absolute Error. 0 is perfection.</a:t>
            </a:r>
          </a:p>
          <a:p>
            <a:endParaRPr lang="en-GB" dirty="0"/>
          </a:p>
        </p:txBody>
      </p:sp>
      <p:sp>
        <p:nvSpPr>
          <p:cNvPr id="4" name="Slide Number Placeholder 3">
            <a:extLst>
              <a:ext uri="{FF2B5EF4-FFF2-40B4-BE49-F238E27FC236}">
                <a16:creationId xmlns:a16="http://schemas.microsoft.com/office/drawing/2014/main" id="{629C20E2-D373-9B8A-9EB1-460AA832CC93}"/>
              </a:ext>
            </a:extLst>
          </p:cNvPr>
          <p:cNvSpPr>
            <a:spLocks noGrp="1"/>
          </p:cNvSpPr>
          <p:nvPr>
            <p:ph type="sldNum" sz="quarter" idx="5"/>
          </p:nvPr>
        </p:nvSpPr>
        <p:spPr/>
        <p:txBody>
          <a:bodyPr/>
          <a:lstStyle/>
          <a:p>
            <a:fld id="{E40A0A09-6FA2-432A-878F-290AC51C7288}" type="slidenum">
              <a:rPr lang="en-US" smtClean="0"/>
              <a:t>21</a:t>
            </a:fld>
            <a:endParaRPr lang="en-US" dirty="0"/>
          </a:p>
        </p:txBody>
      </p:sp>
    </p:spTree>
    <p:extLst>
      <p:ext uri="{BB962C8B-B14F-4D97-AF65-F5344CB8AC3E}">
        <p14:creationId xmlns:p14="http://schemas.microsoft.com/office/powerpoint/2010/main" val="997453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sz="1200" dirty="0"/>
              <a:t>Traditional matrix factorisation (MF) had the best results overall on this data, although the Neural Collaborative Filtering (NCF) model was an extremely close second.</a:t>
            </a:r>
          </a:p>
          <a:p>
            <a:endParaRPr lang="en-GB" sz="1200" dirty="0"/>
          </a:p>
          <a:p>
            <a:r>
              <a:rPr lang="en-GB" sz="1200" dirty="0"/>
              <a:t>The extra flexibility of NCF to include more sophisticated data relationships did not lend itself to improving the recommender system.</a:t>
            </a:r>
          </a:p>
          <a:p>
            <a:endParaRPr lang="en-GB" sz="1200" dirty="0"/>
          </a:p>
          <a:p>
            <a:r>
              <a:rPr lang="en-GB" sz="1200" dirty="0"/>
              <a:t>A more sophisticated and complex model will not always give better results.</a:t>
            </a:r>
          </a:p>
          <a:p>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NDCG@10 Normalised Discounted cumulative Gain.  1 = perfect.</a:t>
            </a:r>
          </a:p>
          <a:p>
            <a:endParaRPr lang="en-GB" sz="1200" dirty="0"/>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22</a:t>
            </a:fld>
            <a:endParaRPr lang="en-US" dirty="0"/>
          </a:p>
        </p:txBody>
      </p:sp>
    </p:spTree>
    <p:extLst>
      <p:ext uri="{BB962C8B-B14F-4D97-AF65-F5344CB8AC3E}">
        <p14:creationId xmlns:p14="http://schemas.microsoft.com/office/powerpoint/2010/main" val="41200144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24</a:t>
            </a:fld>
            <a:endParaRPr lang="en-US" dirty="0"/>
          </a:p>
        </p:txBody>
      </p:sp>
    </p:spTree>
    <p:extLst>
      <p:ext uri="{BB962C8B-B14F-4D97-AF65-F5344CB8AC3E}">
        <p14:creationId xmlns:p14="http://schemas.microsoft.com/office/powerpoint/2010/main" val="28368337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SHAP explains predictions by attributing them to input features.  </a:t>
            </a:r>
          </a:p>
          <a:p>
            <a:endParaRPr lang="en-GB" dirty="0"/>
          </a:p>
          <a:p>
            <a:r>
              <a:rPr lang="en-GB" dirty="0"/>
              <a:t>We re-express each MF prediction as a feature vector built from its own components, then train a simple, surrogate model to reproduce MF’s output.</a:t>
            </a:r>
          </a:p>
          <a:p>
            <a:endParaRPr lang="en-GB" dirty="0"/>
          </a:p>
          <a:p>
            <a:r>
              <a:rPr lang="en-GB" dirty="0"/>
              <a:t>SHAP is applied to the surrogate model, this then explains to us which parts of the MF prediction were give the most weight.</a:t>
            </a:r>
          </a:p>
        </p:txBody>
      </p:sp>
      <p:sp>
        <p:nvSpPr>
          <p:cNvPr id="4" name="Slide Number Placeholder 3"/>
          <p:cNvSpPr>
            <a:spLocks noGrp="1"/>
          </p:cNvSpPr>
          <p:nvPr>
            <p:ph type="sldNum" sz="quarter" idx="5"/>
          </p:nvPr>
        </p:nvSpPr>
        <p:spPr/>
        <p:txBody>
          <a:bodyPr/>
          <a:lstStyle/>
          <a:p>
            <a:fld id="{E40A0A09-6FA2-432A-878F-290AC51C7288}" type="slidenum">
              <a:rPr lang="en-US" smtClean="0"/>
              <a:t>27</a:t>
            </a:fld>
            <a:endParaRPr lang="en-US" dirty="0"/>
          </a:p>
        </p:txBody>
      </p:sp>
    </p:spTree>
    <p:extLst>
      <p:ext uri="{BB962C8B-B14F-4D97-AF65-F5344CB8AC3E}">
        <p14:creationId xmlns:p14="http://schemas.microsoft.com/office/powerpoint/2010/main" val="14950544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2E009-B449-18CC-C93C-530214270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367CF1-C692-5B3A-552B-4CFEB1E57C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26D90-79F2-B01A-A2D6-8B0DA4F5497F}"/>
              </a:ext>
            </a:extLst>
          </p:cNvPr>
          <p:cNvSpPr>
            <a:spLocks noGrp="1"/>
          </p:cNvSpPr>
          <p:nvPr>
            <p:ph type="body" idx="1"/>
          </p:nvPr>
        </p:nvSpPr>
        <p:spPr/>
        <p:txBody>
          <a:bodyPr/>
          <a:lstStyle/>
          <a:p>
            <a:r>
              <a:rPr lang="en-GB" dirty="0"/>
              <a:t>SHAP explains predictions by attributing them to input features.  </a:t>
            </a:r>
          </a:p>
          <a:p>
            <a:endParaRPr lang="en-GB" dirty="0"/>
          </a:p>
          <a:p>
            <a:r>
              <a:rPr lang="en-GB" dirty="0"/>
              <a:t>NCF doesn’t use a surrogate model in the same way, so the results of SHAP analysis are presented very differently – it shows how much the prediction was affected by the user selection and by the film selection.</a:t>
            </a:r>
          </a:p>
        </p:txBody>
      </p:sp>
      <p:sp>
        <p:nvSpPr>
          <p:cNvPr id="4" name="Slide Number Placeholder 3">
            <a:extLst>
              <a:ext uri="{FF2B5EF4-FFF2-40B4-BE49-F238E27FC236}">
                <a16:creationId xmlns:a16="http://schemas.microsoft.com/office/drawing/2014/main" id="{36D3A234-4311-58C1-245A-CF587D358370}"/>
              </a:ext>
            </a:extLst>
          </p:cNvPr>
          <p:cNvSpPr>
            <a:spLocks noGrp="1"/>
          </p:cNvSpPr>
          <p:nvPr>
            <p:ph type="sldNum" sz="quarter" idx="5"/>
          </p:nvPr>
        </p:nvSpPr>
        <p:spPr/>
        <p:txBody>
          <a:bodyPr/>
          <a:lstStyle/>
          <a:p>
            <a:fld id="{E40A0A09-6FA2-432A-878F-290AC51C7288}" type="slidenum">
              <a:rPr lang="en-US" smtClean="0"/>
              <a:t>28</a:t>
            </a:fld>
            <a:endParaRPr lang="en-US" dirty="0"/>
          </a:p>
        </p:txBody>
      </p:sp>
    </p:spTree>
    <p:extLst>
      <p:ext uri="{BB962C8B-B14F-4D97-AF65-F5344CB8AC3E}">
        <p14:creationId xmlns:p14="http://schemas.microsoft.com/office/powerpoint/2010/main" val="814963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30</a:t>
            </a:fld>
            <a:endParaRPr lang="en-US" dirty="0"/>
          </a:p>
        </p:txBody>
      </p:sp>
    </p:spTree>
    <p:extLst>
      <p:ext uri="{BB962C8B-B14F-4D97-AF65-F5344CB8AC3E}">
        <p14:creationId xmlns:p14="http://schemas.microsoft.com/office/powerpoint/2010/main" val="11031787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dirty="0"/>
          </a:p>
        </p:txBody>
      </p:sp>
      <p:sp>
        <p:nvSpPr>
          <p:cNvPr id="3" name="Notes Placeholder 2"/>
          <p:cNvSpPr>
            <a:spLocks noGrp="1"/>
          </p:cNvSpPr>
          <p:nvPr>
            <p:ph type="body" idx="1"/>
          </p:nvPr>
        </p:nvSpPr>
        <p:spPr/>
        <p:txBody>
          <a:bodyPr/>
          <a:lstStyle/>
          <a:p>
            <a:r>
              <a:rPr lang="en-GB" dirty="0"/>
              <a:t>We can easily see what a male in his mid-twenties would like, but it’s harder to be confident in our recommendations to a 65 year old woman</a:t>
            </a:r>
          </a:p>
          <a:p>
            <a:endParaRPr lang="en-GB" dirty="0"/>
          </a:p>
          <a:p>
            <a:pPr marL="0" marR="0" lvl="0" indent="0" algn="l" defTabSz="914400" rtl="0" eaLnBrk="1" fontAlgn="auto" latinLnBrk="0" hangingPunct="1">
              <a:lnSpc>
                <a:spcPct val="100000"/>
              </a:lnSpc>
              <a:spcBef>
                <a:spcPts val="0"/>
              </a:spcBef>
              <a:spcAft>
                <a:spcPts val="0"/>
              </a:spcAft>
              <a:buClr>
                <a:schemeClr val="accent1"/>
              </a:buClr>
              <a:buSzPct val="80000"/>
              <a:buFont typeface="Wingdings 3" charset="2"/>
              <a:buNone/>
              <a:tabLst/>
              <a:defRPr/>
            </a:pPr>
            <a:r>
              <a:rPr lang="en-GB" dirty="0"/>
              <a:t>Do users with few historical ratings receive less accurate or less personalised recommendations than highly active users?</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E40A0A09-6FA2-432A-878F-290AC51C7288}" type="slidenum">
              <a:rPr lang="en-US" smtClean="0"/>
              <a:t>31</a:t>
            </a:fld>
            <a:endParaRPr lang="en-US" dirty="0"/>
          </a:p>
        </p:txBody>
      </p:sp>
    </p:spTree>
    <p:extLst>
      <p:ext uri="{BB962C8B-B14F-4D97-AF65-F5344CB8AC3E}">
        <p14:creationId xmlns:p14="http://schemas.microsoft.com/office/powerpoint/2010/main" val="10361354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r>
              <a:rPr lang="en-US" dirty="0"/>
              <a:t>6/6/2019</a:t>
            </a:r>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dirty="0"/>
              <a:t>6/6/2019</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dirty="0"/>
            </a:p>
          </p:txBody>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6/6/2019</a:t>
            </a:r>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dirty="0"/>
              <a:t>6/6/2019</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dirty="0"/>
              <a:t>6/6/2019</a:t>
            </a: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dirty="0"/>
              <a:t>6/6/2019</a:t>
            </a:r>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a:t>6/6/2019</a:t>
            </a:r>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dirty="0"/>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6/6/2019</a:t>
            </a:r>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dirty="0"/>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dirty="0"/>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6/6/2019</a:t>
            </a:r>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dirty="0"/>
            </a:p>
          </p:txBody>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dirty="0"/>
              <a:t>6/6/2019</a:t>
            </a:r>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txBody>
            <a:bodyPr/>
            <a:lstStyle/>
            <a:p>
              <a:endParaRPr lang="en-GB" dirty="0"/>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6/6/2019</a:t>
            </a:r>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dirty="0"/>
            </a:p>
          </p:txBody>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6/6/2019</a:t>
            </a:r>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dirty="0"/>
            </a:p>
          </p:txBody>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dirty="0"/>
              <a:t>6/6/2019</a:t>
            </a:r>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r>
              <a:rPr lang="en-US" dirty="0"/>
              <a:t>6/6/2019</a:t>
            </a:r>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r>
              <a:rPr lang="en-US" dirty="0"/>
              <a:t>6/6/2019</a:t>
            </a:r>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r>
              <a:rPr lang="en-US" dirty="0"/>
              <a:t>6/6/2019</a:t>
            </a:r>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dirty="0"/>
            </a:p>
          </p:txBody>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r>
              <a:rPr lang="en-US" dirty="0"/>
              <a:t>6/6/2019</a:t>
            </a:r>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dirty="0"/>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r>
              <a:rPr lang="en-US" dirty="0"/>
              <a:t>6/6/2019</a:t>
            </a:r>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grouplens.org/datasets/movielens/1m/" TargetMode="External"/><Relationship Id="rId2" Type="http://schemas.openxmlformats.org/officeDocument/2006/relationships/hyperlink" Target="https://doi.org/10.1145/3038912.3052569"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purple tinted chalkboard">
            <a:extLst>
              <a:ext uri="{FF2B5EF4-FFF2-40B4-BE49-F238E27FC236}">
                <a16:creationId xmlns:a16="http://schemas.microsoft.com/office/drawing/2014/main" id="{12751E25-7490-4E9F-B6B6-99147D39E66E}"/>
              </a:ext>
            </a:extLst>
          </p:cNvPr>
          <p:cNvPicPr>
            <a:picLocks noChangeAspect="1"/>
          </p:cNvPicPr>
          <p:nvPr/>
        </p:nvPicPr>
        <p:blipFill rotWithShape="1">
          <a:blip r:embed="rId2">
            <a:alphaModFix amt="55000"/>
          </a:blip>
          <a:srcRect r="-1" b="21257"/>
          <a:stretch/>
        </p:blipFill>
        <p:spPr>
          <a:xfrm>
            <a:off x="474133" y="474133"/>
            <a:ext cx="11243734" cy="5909733"/>
          </a:xfrm>
          <a:prstGeom prst="rect">
            <a:avLst/>
          </a:prstGeom>
          <a:noFill/>
        </p:spPr>
      </p:pic>
      <p:sp>
        <p:nvSpPr>
          <p:cNvPr id="2" name="Title 1">
            <a:extLst>
              <a:ext uri="{FF2B5EF4-FFF2-40B4-BE49-F238E27FC236}">
                <a16:creationId xmlns:a16="http://schemas.microsoft.com/office/drawing/2014/main" id="{235B1457-35E0-409B-98CD-F11D19CA6FA5}"/>
              </a:ext>
            </a:extLst>
          </p:cNvPr>
          <p:cNvSpPr>
            <a:spLocks noGrp="1"/>
          </p:cNvSpPr>
          <p:nvPr>
            <p:ph type="ctrTitle"/>
          </p:nvPr>
        </p:nvSpPr>
        <p:spPr>
          <a:xfrm>
            <a:off x="1154954" y="2099733"/>
            <a:ext cx="8827245" cy="2677648"/>
          </a:xfrm>
        </p:spPr>
        <p:txBody>
          <a:bodyPr>
            <a:normAutofit/>
          </a:bodyPr>
          <a:lstStyle/>
          <a:p>
            <a:r>
              <a:rPr lang="en-US" dirty="0">
                <a:solidFill>
                  <a:srgbClr val="FFFFFF"/>
                </a:solidFill>
              </a:rPr>
              <a:t>Machine Learning Individual Project</a:t>
            </a:r>
          </a:p>
        </p:txBody>
      </p:sp>
      <p:sp>
        <p:nvSpPr>
          <p:cNvPr id="3" name="Subtitle 2">
            <a:extLst>
              <a:ext uri="{FF2B5EF4-FFF2-40B4-BE49-F238E27FC236}">
                <a16:creationId xmlns:a16="http://schemas.microsoft.com/office/drawing/2014/main" id="{78BDD245-17CD-4FBE-A9CF-AC997273DFE5}"/>
              </a:ext>
            </a:extLst>
          </p:cNvPr>
          <p:cNvSpPr>
            <a:spLocks noGrp="1"/>
          </p:cNvSpPr>
          <p:nvPr>
            <p:ph type="subTitle" idx="1"/>
          </p:nvPr>
        </p:nvSpPr>
        <p:spPr>
          <a:xfrm>
            <a:off x="1154954" y="4777380"/>
            <a:ext cx="8827245" cy="861420"/>
          </a:xfrm>
        </p:spPr>
        <p:txBody>
          <a:bodyPr>
            <a:normAutofit/>
          </a:bodyPr>
          <a:lstStyle/>
          <a:p>
            <a:r>
              <a:rPr lang="en-US" dirty="0">
                <a:solidFill>
                  <a:srgbClr val="FFFFFF"/>
                </a:solidFill>
              </a:rPr>
              <a:t>Sarah Woodcock October 2026</a:t>
            </a:r>
          </a:p>
        </p:txBody>
      </p:sp>
    </p:spTree>
    <p:extLst>
      <p:ext uri="{BB962C8B-B14F-4D97-AF65-F5344CB8AC3E}">
        <p14:creationId xmlns:p14="http://schemas.microsoft.com/office/powerpoint/2010/main" val="23065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9" name="Group 48">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0" name="Rectangle 49">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51" name="Oval 50">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2" name="Oval 51">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3" name="Oval 52">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4" name="Oval 53">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5" name="Oval 54">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6"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57"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dirty="0"/>
            </a:p>
          </p:txBody>
        </p:sp>
        <p:sp>
          <p:nvSpPr>
            <p:cNvPr id="58"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60" name="Rectangle 59">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EB7B6CAF-9E88-E79C-C3CB-5F42742B6E4F}"/>
              </a:ext>
            </a:extLst>
          </p:cNvPr>
          <p:cNvSpPr>
            <a:spLocks noGrp="1"/>
          </p:cNvSpPr>
          <p:nvPr>
            <p:ph type="title"/>
          </p:nvPr>
        </p:nvSpPr>
        <p:spPr>
          <a:xfrm>
            <a:off x="1154954" y="973668"/>
            <a:ext cx="8761413" cy="706964"/>
          </a:xfrm>
        </p:spPr>
        <p:txBody>
          <a:bodyPr vert="horz" lIns="91440" tIns="45720" rIns="91440" bIns="45720" rtlCol="0" anchor="ctr">
            <a:normAutofit/>
          </a:bodyPr>
          <a:lstStyle/>
          <a:p>
            <a:pPr>
              <a:lnSpc>
                <a:spcPct val="90000"/>
              </a:lnSpc>
            </a:pPr>
            <a:r>
              <a:rPr lang="en-US" sz="2000" b="0" i="0" kern="1200" dirty="0">
                <a:solidFill>
                  <a:srgbClr val="EBEBEB"/>
                </a:solidFill>
                <a:latin typeface="+mj-lt"/>
                <a:ea typeface="+mj-ea"/>
                <a:cs typeface="+mj-cs"/>
              </a:rPr>
              <a:t>Comparative Intelligence and Ethics in Machine Learning Systems</a:t>
            </a:r>
          </a:p>
        </p:txBody>
      </p:sp>
      <p:pic>
        <p:nvPicPr>
          <p:cNvPr id="9" name="Content Placeholder 8" descr="Theatre with solid fill">
            <a:extLst>
              <a:ext uri="{FF2B5EF4-FFF2-40B4-BE49-F238E27FC236}">
                <a16:creationId xmlns:a16="http://schemas.microsoft.com/office/drawing/2014/main" id="{3CAC87CE-B9EE-224C-CE82-A39132AC3CC3}"/>
              </a:ext>
            </a:extLst>
          </p:cNvPr>
          <p:cNvPicPr>
            <a:picLocks noGrp="1" noChangeAspect="1"/>
          </p:cNvPicPr>
          <p:nvPr>
            <p:ph sz="half" idx="2"/>
          </p:nvPr>
        </p:nvPicPr>
        <p:blipFill>
          <a:blip>
            <a:extLst>
              <a:ext uri="{96DAC541-7B7A-43D3-8B79-37D633B846F1}">
                <asvg:svgBlip xmlns:asvg="http://schemas.microsoft.com/office/drawing/2016/SVG/main" r:embed="rId3"/>
              </a:ext>
            </a:extLst>
          </a:blip>
          <a:stretch>
            <a:fillRect/>
          </a:stretch>
        </p:blipFill>
        <p:spPr>
          <a:xfrm>
            <a:off x="1151467" y="2793582"/>
            <a:ext cx="3031901" cy="3031901"/>
          </a:xfrm>
          <a:prstGeom prst="roundRect">
            <a:avLst>
              <a:gd name="adj" fmla="val 1858"/>
            </a:avLst>
          </a:prstGeom>
          <a:effectLst>
            <a:outerShdw blurRad="50800" dist="50800" dir="5400000" algn="tl" rotWithShape="0">
              <a:srgbClr val="000000">
                <a:alpha val="43000"/>
              </a:srgbClr>
            </a:outerShdw>
          </a:effectLst>
        </p:spPr>
      </p:pic>
      <p:sp>
        <p:nvSpPr>
          <p:cNvPr id="3" name="Content Placeholder 2">
            <a:extLst>
              <a:ext uri="{FF2B5EF4-FFF2-40B4-BE49-F238E27FC236}">
                <a16:creationId xmlns:a16="http://schemas.microsoft.com/office/drawing/2014/main" id="{B8C0D281-63C6-F85B-0E02-6830C8CEEFA0}"/>
              </a:ext>
            </a:extLst>
          </p:cNvPr>
          <p:cNvSpPr>
            <a:spLocks noGrp="1"/>
          </p:cNvSpPr>
          <p:nvPr>
            <p:ph sz="half" idx="1"/>
          </p:nvPr>
        </p:nvSpPr>
        <p:spPr>
          <a:xfrm>
            <a:off x="4624910" y="2592550"/>
            <a:ext cx="6551597" cy="3416300"/>
          </a:xfrm>
        </p:spPr>
        <p:txBody>
          <a:bodyPr vert="horz" lIns="91440" tIns="45720" rIns="91440" bIns="45720" rtlCol="0" anchor="ctr">
            <a:normAutofit/>
          </a:bodyPr>
          <a:lstStyle/>
          <a:p>
            <a:pPr marL="0" indent="0">
              <a:buNone/>
            </a:pPr>
            <a:r>
              <a:rPr lang="en-US" b="1" u="sng" dirty="0"/>
              <a:t>Dataset and Track Selection</a:t>
            </a:r>
          </a:p>
          <a:p>
            <a:pPr marL="0" indent="0"/>
            <a:r>
              <a:rPr lang="en-US" dirty="0"/>
              <a:t>Project Track:  </a:t>
            </a:r>
          </a:p>
          <a:p>
            <a:pPr marL="685800" lvl="1">
              <a:buFont typeface="Courier New" panose="02070309020205020404" pitchFamily="49" charset="0"/>
              <a:buChar char="o"/>
            </a:pPr>
            <a:r>
              <a:rPr lang="en-US" dirty="0"/>
              <a:t>I chose Track B: Recommender Systems (RS)</a:t>
            </a:r>
          </a:p>
          <a:p>
            <a:pPr marL="685800" lvl="1">
              <a:buFont typeface="Courier New" panose="02070309020205020404" pitchFamily="49" charset="0"/>
              <a:buChar char="o"/>
            </a:pPr>
            <a:endParaRPr lang="en-US" dirty="0"/>
          </a:p>
          <a:p>
            <a:pPr marL="0" indent="0"/>
            <a:r>
              <a:rPr lang="en-US" dirty="0"/>
              <a:t>Dataset: </a:t>
            </a:r>
          </a:p>
          <a:p>
            <a:pPr marL="685800" lvl="1">
              <a:buFont typeface="Courier New" panose="02070309020205020404" pitchFamily="49" charset="0"/>
              <a:buChar char="o"/>
            </a:pPr>
            <a:r>
              <a:rPr lang="en-US" dirty="0"/>
              <a:t>I chose MovieLens 1M</a:t>
            </a:r>
          </a:p>
          <a:p>
            <a:pPr marL="685800" lvl="1">
              <a:buFont typeface="Courier New" panose="02070309020205020404" pitchFamily="49" charset="0"/>
              <a:buChar char="o"/>
            </a:pPr>
            <a:r>
              <a:rPr lang="en-US" dirty="0"/>
              <a:t>https://grouplens.org/datasets/movielens/1m/</a:t>
            </a:r>
          </a:p>
        </p:txBody>
      </p:sp>
    </p:spTree>
    <p:extLst>
      <p:ext uri="{BB962C8B-B14F-4D97-AF65-F5344CB8AC3E}">
        <p14:creationId xmlns:p14="http://schemas.microsoft.com/office/powerpoint/2010/main" val="8767678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AB47F1-052B-94D1-63FB-D3D8CECDD547}"/>
              </a:ext>
            </a:extLst>
          </p:cNvPr>
          <p:cNvSpPr>
            <a:spLocks noGrp="1"/>
          </p:cNvSpPr>
          <p:nvPr>
            <p:ph type="title"/>
          </p:nvPr>
        </p:nvSpPr>
        <p:spPr/>
        <p:txBody>
          <a:bodyPr/>
          <a:lstStyle/>
          <a:p>
            <a:r>
              <a:rPr lang="en-GB" dirty="0"/>
              <a:t>There were Pros and Cons to this dataset choice</a:t>
            </a:r>
          </a:p>
        </p:txBody>
      </p:sp>
      <p:sp>
        <p:nvSpPr>
          <p:cNvPr id="3" name="Content Placeholder 2">
            <a:extLst>
              <a:ext uri="{FF2B5EF4-FFF2-40B4-BE49-F238E27FC236}">
                <a16:creationId xmlns:a16="http://schemas.microsoft.com/office/drawing/2014/main" id="{4DCAF83C-3A0C-0FC7-7323-508C0AEE1D1A}"/>
              </a:ext>
            </a:extLst>
          </p:cNvPr>
          <p:cNvSpPr>
            <a:spLocks noGrp="1"/>
          </p:cNvSpPr>
          <p:nvPr>
            <p:ph sz="half" idx="1"/>
          </p:nvPr>
        </p:nvSpPr>
        <p:spPr>
          <a:xfrm>
            <a:off x="759854" y="2603500"/>
            <a:ext cx="5220258" cy="3900331"/>
          </a:xfrm>
        </p:spPr>
        <p:txBody>
          <a:bodyPr>
            <a:normAutofit fontScale="92500" lnSpcReduction="10000"/>
          </a:bodyPr>
          <a:lstStyle/>
          <a:p>
            <a:pPr marL="0" indent="0">
              <a:buNone/>
            </a:pPr>
            <a:r>
              <a:rPr lang="en-GB" b="1" u="sng" dirty="0"/>
              <a:t>Pros</a:t>
            </a:r>
          </a:p>
          <a:p>
            <a:r>
              <a:rPr lang="en-GB" dirty="0"/>
              <a:t>A very large amount of data with many facets – information about the films and the users who rated them was well-rounded</a:t>
            </a:r>
          </a:p>
          <a:p>
            <a:r>
              <a:rPr lang="en-GB" dirty="0"/>
              <a:t>The dataset from MovieLens 100k was used in our Unit08 example (University of Essex Online 2026).  I already had some information I could compare my results with to check I was on the right track.</a:t>
            </a:r>
          </a:p>
          <a:p>
            <a:r>
              <a:rPr lang="en-GB" dirty="0"/>
              <a:t>In comparison with other datasets I considered – Book Crossing and some theatrical review datasets - MovieLens 1M held much more data per item and per user, giving more facets to explore</a:t>
            </a:r>
          </a:p>
        </p:txBody>
      </p:sp>
      <p:sp>
        <p:nvSpPr>
          <p:cNvPr id="4" name="Content Placeholder 3">
            <a:extLst>
              <a:ext uri="{FF2B5EF4-FFF2-40B4-BE49-F238E27FC236}">
                <a16:creationId xmlns:a16="http://schemas.microsoft.com/office/drawing/2014/main" id="{32F699ED-E64E-30BA-C732-AC259985DDB3}"/>
              </a:ext>
            </a:extLst>
          </p:cNvPr>
          <p:cNvSpPr>
            <a:spLocks noGrp="1"/>
          </p:cNvSpPr>
          <p:nvPr>
            <p:ph sz="half" idx="2"/>
          </p:nvPr>
        </p:nvSpPr>
        <p:spPr/>
        <p:txBody>
          <a:bodyPr>
            <a:normAutofit fontScale="92500" lnSpcReduction="10000"/>
          </a:bodyPr>
          <a:lstStyle/>
          <a:p>
            <a:pPr marL="0" indent="0">
              <a:buNone/>
            </a:pPr>
            <a:r>
              <a:rPr lang="en-GB" b="1" u="sng" dirty="0"/>
              <a:t>Cons</a:t>
            </a:r>
          </a:p>
          <a:p>
            <a:r>
              <a:rPr lang="en-GB" dirty="0"/>
              <a:t>The dataset from MovieLens 100k was used in our Unit08 example.  It would be difficult to write code that hadn’t already been used.</a:t>
            </a:r>
          </a:p>
          <a:p>
            <a:r>
              <a:rPr lang="en-GB" dirty="0"/>
              <a:t>The dataset is well known and widely used so it would be difficult to draw new conclusions.</a:t>
            </a:r>
          </a:p>
        </p:txBody>
      </p:sp>
    </p:spTree>
    <p:extLst>
      <p:ext uri="{BB962C8B-B14F-4D97-AF65-F5344CB8AC3E}">
        <p14:creationId xmlns:p14="http://schemas.microsoft.com/office/powerpoint/2010/main" val="2296083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5" name="Rectangle 44">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46"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48" name="Rectangle 47">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0"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dirty="0"/>
          </a:p>
        </p:txBody>
      </p:sp>
      <p:sp>
        <p:nvSpPr>
          <p:cNvPr id="52" name="Rectangle 51">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7E5EB111-003E-F81A-10B9-A8981ACF5BBB}"/>
              </a:ext>
            </a:extLst>
          </p:cNvPr>
          <p:cNvSpPr>
            <a:spLocks noGrp="1"/>
          </p:cNvSpPr>
          <p:nvPr>
            <p:ph type="title"/>
          </p:nvPr>
        </p:nvSpPr>
        <p:spPr>
          <a:xfrm>
            <a:off x="8160773" y="1113062"/>
            <a:ext cx="3382297" cy="3281957"/>
          </a:xfrm>
        </p:spPr>
        <p:txBody>
          <a:bodyPr vert="horz" lIns="91440" tIns="45720" rIns="91440" bIns="45720" rtlCol="0" anchor="b">
            <a:normAutofit/>
          </a:bodyPr>
          <a:lstStyle/>
          <a:p>
            <a:pPr>
              <a:lnSpc>
                <a:spcPct val="90000"/>
              </a:lnSpc>
            </a:pPr>
            <a:r>
              <a:rPr lang="en-US" sz="4600" b="0" i="0" kern="1200" dirty="0">
                <a:solidFill>
                  <a:srgbClr val="EBEBEB"/>
                </a:solidFill>
                <a:latin typeface="+mj-lt"/>
                <a:ea typeface="+mj-ea"/>
                <a:cs typeface="+mj-cs"/>
              </a:rPr>
              <a:t>Exploratory Data Analysis – Ratings Distribution</a:t>
            </a:r>
          </a:p>
        </p:txBody>
      </p:sp>
      <p:pic>
        <p:nvPicPr>
          <p:cNvPr id="4" name="Picture 3">
            <a:extLst>
              <a:ext uri="{FF2B5EF4-FFF2-40B4-BE49-F238E27FC236}">
                <a16:creationId xmlns:a16="http://schemas.microsoft.com/office/drawing/2014/main" id="{915CC0A3-72D9-3C0C-F77E-D82A1BA44483}"/>
              </a:ext>
            </a:extLst>
          </p:cNvPr>
          <p:cNvPicPr>
            <a:picLocks noChangeAspect="1"/>
          </p:cNvPicPr>
          <p:nvPr/>
        </p:nvPicPr>
        <p:blipFill>
          <a:blip r:embed="rId4"/>
          <a:stretch>
            <a:fillRect/>
          </a:stretch>
        </p:blipFill>
        <p:spPr>
          <a:xfrm>
            <a:off x="1109763" y="1194979"/>
            <a:ext cx="6470907" cy="4464926"/>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815675888"/>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B712E2-40FD-E813-D99D-82D9812E50A1}"/>
            </a:ext>
          </a:extLst>
        </p:cNvPr>
        <p:cNvGrpSpPr/>
        <p:nvPr/>
      </p:nvGrpSpPr>
      <p:grpSpPr>
        <a:xfrm>
          <a:off x="0" y="0"/>
          <a:ext cx="0" cy="0"/>
          <a:chOff x="0" y="0"/>
          <a:chExt cx="0" cy="0"/>
        </a:xfrm>
      </p:grpSpPr>
      <p:grpSp>
        <p:nvGrpSpPr>
          <p:cNvPr id="58" name="Group 5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9" name="Rectangle 5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6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62" name="Rectangle 6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64"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dirty="0"/>
          </a:p>
        </p:txBody>
      </p:sp>
      <p:sp>
        <p:nvSpPr>
          <p:cNvPr id="66" name="Rectangle 65">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BB2F9AA3-23EC-691D-AC98-8EAC0A1BC5A7}"/>
              </a:ext>
            </a:extLst>
          </p:cNvPr>
          <p:cNvSpPr>
            <a:spLocks noGrp="1"/>
          </p:cNvSpPr>
          <p:nvPr>
            <p:ph type="title"/>
          </p:nvPr>
        </p:nvSpPr>
        <p:spPr>
          <a:xfrm>
            <a:off x="8160773" y="1113062"/>
            <a:ext cx="3382297" cy="3281957"/>
          </a:xfrm>
        </p:spPr>
        <p:txBody>
          <a:bodyPr vert="horz" lIns="91440" tIns="45720" rIns="91440" bIns="45720" rtlCol="0" anchor="b">
            <a:normAutofit/>
          </a:bodyPr>
          <a:lstStyle/>
          <a:p>
            <a:pPr>
              <a:lnSpc>
                <a:spcPct val="90000"/>
              </a:lnSpc>
            </a:pPr>
            <a:r>
              <a:rPr lang="en-US" sz="4600" b="0" i="0" kern="1200" dirty="0">
                <a:solidFill>
                  <a:srgbClr val="EBEBEB"/>
                </a:solidFill>
                <a:latin typeface="+mj-lt"/>
                <a:ea typeface="+mj-ea"/>
                <a:cs typeface="+mj-cs"/>
              </a:rPr>
              <a:t>Exploratory Data Analysis  - Ratings per user</a:t>
            </a:r>
          </a:p>
        </p:txBody>
      </p:sp>
      <p:pic>
        <p:nvPicPr>
          <p:cNvPr id="5" name="Picture 4">
            <a:extLst>
              <a:ext uri="{FF2B5EF4-FFF2-40B4-BE49-F238E27FC236}">
                <a16:creationId xmlns:a16="http://schemas.microsoft.com/office/drawing/2014/main" id="{F5EEBF66-23AC-B033-577E-2C01500DCFA1}"/>
              </a:ext>
            </a:extLst>
          </p:cNvPr>
          <p:cNvPicPr>
            <a:picLocks noChangeAspect="1"/>
          </p:cNvPicPr>
          <p:nvPr/>
        </p:nvPicPr>
        <p:blipFill>
          <a:blip r:embed="rId4"/>
          <a:stretch>
            <a:fillRect/>
          </a:stretch>
        </p:blipFill>
        <p:spPr>
          <a:xfrm>
            <a:off x="1109763" y="1914868"/>
            <a:ext cx="6470907" cy="3025148"/>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254162616"/>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CFD838-95E0-187C-0A7F-480B70F5FB3D}"/>
            </a:ext>
          </a:extLst>
        </p:cNvPr>
        <p:cNvGrpSpPr/>
        <p:nvPr/>
      </p:nvGrpSpPr>
      <p:grpSpPr>
        <a:xfrm>
          <a:off x="0" y="0"/>
          <a:ext cx="0" cy="0"/>
          <a:chOff x="0" y="0"/>
          <a:chExt cx="0" cy="0"/>
        </a:xfrm>
      </p:grpSpPr>
      <p:grpSp>
        <p:nvGrpSpPr>
          <p:cNvPr id="72" name="Group 71">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73" name="Rectangle 72">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74"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76" name="Rectangle 75">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78"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dirty="0"/>
          </a:p>
        </p:txBody>
      </p:sp>
      <p:sp>
        <p:nvSpPr>
          <p:cNvPr id="80" name="Rectangle 79">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1797C4C4-2696-8E03-8A22-EA24B3D2C353}"/>
              </a:ext>
            </a:extLst>
          </p:cNvPr>
          <p:cNvSpPr>
            <a:spLocks noGrp="1"/>
          </p:cNvSpPr>
          <p:nvPr>
            <p:ph type="title"/>
          </p:nvPr>
        </p:nvSpPr>
        <p:spPr>
          <a:xfrm>
            <a:off x="8160773" y="1113062"/>
            <a:ext cx="3382297" cy="3281957"/>
          </a:xfrm>
        </p:spPr>
        <p:txBody>
          <a:bodyPr vert="horz" lIns="91440" tIns="45720" rIns="91440" bIns="45720" rtlCol="0" anchor="b">
            <a:normAutofit/>
          </a:bodyPr>
          <a:lstStyle/>
          <a:p>
            <a:pPr>
              <a:lnSpc>
                <a:spcPct val="90000"/>
              </a:lnSpc>
            </a:pPr>
            <a:r>
              <a:rPr lang="en-US" sz="4600" b="0" i="0" kern="1200" dirty="0">
                <a:solidFill>
                  <a:srgbClr val="EBEBEB"/>
                </a:solidFill>
                <a:latin typeface="+mj-lt"/>
                <a:ea typeface="+mj-ea"/>
                <a:cs typeface="+mj-cs"/>
              </a:rPr>
              <a:t>Exploratory Data Analysis – Ratings per film</a:t>
            </a:r>
          </a:p>
        </p:txBody>
      </p:sp>
      <p:pic>
        <p:nvPicPr>
          <p:cNvPr id="4" name="Picture 3">
            <a:extLst>
              <a:ext uri="{FF2B5EF4-FFF2-40B4-BE49-F238E27FC236}">
                <a16:creationId xmlns:a16="http://schemas.microsoft.com/office/drawing/2014/main" id="{69A44D24-96A0-F7FB-B4BF-89F10CD135E1}"/>
              </a:ext>
            </a:extLst>
          </p:cNvPr>
          <p:cNvPicPr>
            <a:picLocks noChangeAspect="1"/>
          </p:cNvPicPr>
          <p:nvPr/>
        </p:nvPicPr>
        <p:blipFill>
          <a:blip r:embed="rId4"/>
          <a:stretch>
            <a:fillRect/>
          </a:stretch>
        </p:blipFill>
        <p:spPr>
          <a:xfrm>
            <a:off x="1109763" y="1874424"/>
            <a:ext cx="6470907" cy="3106036"/>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83568730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7BB338-9F1C-1A22-BD87-8FC8AD1FF737}"/>
            </a:ext>
          </a:extLst>
        </p:cNvPr>
        <p:cNvGrpSpPr/>
        <p:nvPr/>
      </p:nvGrpSpPr>
      <p:grpSpPr>
        <a:xfrm>
          <a:off x="0" y="0"/>
          <a:ext cx="0" cy="0"/>
          <a:chOff x="0" y="0"/>
          <a:chExt cx="0" cy="0"/>
        </a:xfrm>
      </p:grpSpPr>
      <p:grpSp>
        <p:nvGrpSpPr>
          <p:cNvPr id="85" name="Group 84">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6" name="Rectangle 85">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87"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89" name="Rectangle 88">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91"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dirty="0"/>
          </a:p>
        </p:txBody>
      </p:sp>
      <p:sp>
        <p:nvSpPr>
          <p:cNvPr id="93" name="Rectangle 92">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8C72B0FE-72D2-6DC0-221E-7B1D40269E3C}"/>
              </a:ext>
            </a:extLst>
          </p:cNvPr>
          <p:cNvSpPr>
            <a:spLocks noGrp="1"/>
          </p:cNvSpPr>
          <p:nvPr>
            <p:ph type="title"/>
          </p:nvPr>
        </p:nvSpPr>
        <p:spPr>
          <a:xfrm>
            <a:off x="8160773" y="1113062"/>
            <a:ext cx="3382297" cy="3281957"/>
          </a:xfrm>
        </p:spPr>
        <p:txBody>
          <a:bodyPr vert="horz" lIns="91440" tIns="45720" rIns="91440" bIns="45720" rtlCol="0" anchor="b">
            <a:normAutofit/>
          </a:bodyPr>
          <a:lstStyle/>
          <a:p>
            <a:pPr>
              <a:lnSpc>
                <a:spcPct val="90000"/>
              </a:lnSpc>
            </a:pPr>
            <a:r>
              <a:rPr lang="en-US" sz="4600" b="0" i="0" kern="1200" dirty="0">
                <a:solidFill>
                  <a:srgbClr val="EBEBEB"/>
                </a:solidFill>
                <a:latin typeface="+mj-lt"/>
                <a:ea typeface="+mj-ea"/>
                <a:cs typeface="+mj-cs"/>
              </a:rPr>
              <a:t>Exploratory Data Analysis – Film Genres</a:t>
            </a:r>
          </a:p>
        </p:txBody>
      </p:sp>
      <p:pic>
        <p:nvPicPr>
          <p:cNvPr id="5" name="Picture 4">
            <a:extLst>
              <a:ext uri="{FF2B5EF4-FFF2-40B4-BE49-F238E27FC236}">
                <a16:creationId xmlns:a16="http://schemas.microsoft.com/office/drawing/2014/main" id="{A531D0B4-D39D-8DFC-B75A-3AC02288ED7E}"/>
              </a:ext>
            </a:extLst>
          </p:cNvPr>
          <p:cNvPicPr>
            <a:picLocks noChangeAspect="1"/>
          </p:cNvPicPr>
          <p:nvPr/>
        </p:nvPicPr>
        <p:blipFill>
          <a:blip r:embed="rId4"/>
          <a:stretch>
            <a:fillRect/>
          </a:stretch>
        </p:blipFill>
        <p:spPr>
          <a:xfrm>
            <a:off x="1109763" y="1607500"/>
            <a:ext cx="6470907" cy="363988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14872949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F22808-679B-44EF-2866-DF84C9DEFC93}"/>
            </a:ext>
          </a:extLst>
        </p:cNvPr>
        <p:cNvGrpSpPr/>
        <p:nvPr/>
      </p:nvGrpSpPr>
      <p:grpSpPr>
        <a:xfrm>
          <a:off x="0" y="0"/>
          <a:ext cx="0" cy="0"/>
          <a:chOff x="0" y="0"/>
          <a:chExt cx="0" cy="0"/>
        </a:xfrm>
      </p:grpSpPr>
      <p:grpSp>
        <p:nvGrpSpPr>
          <p:cNvPr id="148" name="Group 147">
            <a:extLst>
              <a:ext uri="{FF2B5EF4-FFF2-40B4-BE49-F238E27FC236}">
                <a16:creationId xmlns:a16="http://schemas.microsoft.com/office/drawing/2014/main" id="{EED2E2BB-3846-41EB-9F1E-92C33C4A8F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49" name="Rectangle 148">
              <a:extLst>
                <a:ext uri="{FF2B5EF4-FFF2-40B4-BE49-F238E27FC236}">
                  <a16:creationId xmlns:a16="http://schemas.microsoft.com/office/drawing/2014/main" id="{C73D5773-5AC9-444A-A47A-EB6656ACD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50" name="Freeform 5">
              <a:extLst>
                <a:ext uri="{FF2B5EF4-FFF2-40B4-BE49-F238E27FC236}">
                  <a16:creationId xmlns:a16="http://schemas.microsoft.com/office/drawing/2014/main" id="{81EB4475-C020-4325-AF59-31FCBFB7C5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151" name="Rectangle 150">
            <a:extLst>
              <a:ext uri="{FF2B5EF4-FFF2-40B4-BE49-F238E27FC236}">
                <a16:creationId xmlns:a16="http://schemas.microsoft.com/office/drawing/2014/main" id="{F7689D68-C339-4D5B-9DAA-E13F6BD4D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92F6C1F4-A79B-5A65-8BB9-328B1449800F}"/>
              </a:ext>
            </a:extLst>
          </p:cNvPr>
          <p:cNvSpPr>
            <a:spLocks noGrp="1"/>
          </p:cNvSpPr>
          <p:nvPr>
            <p:ph type="title"/>
          </p:nvPr>
        </p:nvSpPr>
        <p:spPr>
          <a:xfrm>
            <a:off x="649975" y="4517136"/>
            <a:ext cx="9453911" cy="1174947"/>
          </a:xfrm>
        </p:spPr>
        <p:txBody>
          <a:bodyPr vert="horz" lIns="91440" tIns="45720" rIns="91440" bIns="45720" rtlCol="0" anchor="b">
            <a:normAutofit/>
          </a:bodyPr>
          <a:lstStyle/>
          <a:p>
            <a:pPr>
              <a:lnSpc>
                <a:spcPct val="90000"/>
              </a:lnSpc>
            </a:pPr>
            <a:r>
              <a:rPr lang="en-US" sz="3800" b="0" i="0" kern="1200" dirty="0">
                <a:solidFill>
                  <a:schemeClr val="bg2"/>
                </a:solidFill>
                <a:latin typeface="+mj-lt"/>
                <a:ea typeface="+mj-ea"/>
                <a:cs typeface="+mj-cs"/>
              </a:rPr>
              <a:t>Exploratory Data Analysis – User Demographics</a:t>
            </a:r>
          </a:p>
        </p:txBody>
      </p:sp>
      <p:pic>
        <p:nvPicPr>
          <p:cNvPr id="7" name="Picture 6">
            <a:extLst>
              <a:ext uri="{FF2B5EF4-FFF2-40B4-BE49-F238E27FC236}">
                <a16:creationId xmlns:a16="http://schemas.microsoft.com/office/drawing/2014/main" id="{87F5D56D-13FC-5E9C-4D83-DF5622E2A1DC}"/>
              </a:ext>
            </a:extLst>
          </p:cNvPr>
          <p:cNvPicPr>
            <a:picLocks noChangeAspect="1"/>
          </p:cNvPicPr>
          <p:nvPr/>
        </p:nvPicPr>
        <p:blipFill>
          <a:blip r:embed="rId4"/>
          <a:srcRect r="4" b="4655"/>
          <a:stretch>
            <a:fillRect/>
          </a:stretch>
        </p:blipFill>
        <p:spPr>
          <a:xfrm>
            <a:off x="734845" y="1030498"/>
            <a:ext cx="4602657" cy="2907433"/>
          </a:xfrm>
          <a:prstGeom prst="roundRect">
            <a:avLst>
              <a:gd name="adj" fmla="val 1858"/>
            </a:avLst>
          </a:prstGeom>
          <a:effectLst/>
        </p:spPr>
      </p:pic>
      <p:pic>
        <p:nvPicPr>
          <p:cNvPr id="9" name="Picture 8">
            <a:extLst>
              <a:ext uri="{FF2B5EF4-FFF2-40B4-BE49-F238E27FC236}">
                <a16:creationId xmlns:a16="http://schemas.microsoft.com/office/drawing/2014/main" id="{8043FB08-F369-F3A5-96CD-904DAA1DD681}"/>
              </a:ext>
            </a:extLst>
          </p:cNvPr>
          <p:cNvPicPr>
            <a:picLocks noChangeAspect="1"/>
          </p:cNvPicPr>
          <p:nvPr/>
        </p:nvPicPr>
        <p:blipFill>
          <a:blip r:embed="rId5"/>
          <a:srcRect r="4" b="3428"/>
          <a:stretch>
            <a:fillRect/>
          </a:stretch>
        </p:blipFill>
        <p:spPr>
          <a:xfrm>
            <a:off x="5501228" y="1028459"/>
            <a:ext cx="4602658" cy="2911510"/>
          </a:xfrm>
          <a:prstGeom prst="roundRect">
            <a:avLst>
              <a:gd name="adj" fmla="val 1858"/>
            </a:avLst>
          </a:prstGeom>
          <a:effectLst/>
        </p:spPr>
      </p:pic>
    </p:spTree>
    <p:extLst>
      <p:ext uri="{BB962C8B-B14F-4D97-AF65-F5344CB8AC3E}">
        <p14:creationId xmlns:p14="http://schemas.microsoft.com/office/powerpoint/2010/main" val="4000325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7039-F5F1-B434-D021-CE0A851D77B9}"/>
              </a:ext>
            </a:extLst>
          </p:cNvPr>
          <p:cNvSpPr>
            <a:spLocks noGrp="1"/>
          </p:cNvSpPr>
          <p:nvPr>
            <p:ph type="ctrTitle"/>
          </p:nvPr>
        </p:nvSpPr>
        <p:spPr/>
        <p:txBody>
          <a:bodyPr/>
          <a:lstStyle/>
          <a:p>
            <a:r>
              <a:rPr lang="en-GB" dirty="0"/>
              <a:t>Traditional Machine Learning Model</a:t>
            </a:r>
          </a:p>
        </p:txBody>
      </p:sp>
      <p:sp>
        <p:nvSpPr>
          <p:cNvPr id="3" name="Subtitle 2">
            <a:extLst>
              <a:ext uri="{FF2B5EF4-FFF2-40B4-BE49-F238E27FC236}">
                <a16:creationId xmlns:a16="http://schemas.microsoft.com/office/drawing/2014/main" id="{29699E6D-A2CB-2FDF-963F-B5F3338932F7}"/>
              </a:ext>
            </a:extLst>
          </p:cNvPr>
          <p:cNvSpPr>
            <a:spLocks noGrp="1"/>
          </p:cNvSpPr>
          <p:nvPr>
            <p:ph type="subTitle" idx="1"/>
          </p:nvPr>
        </p:nvSpPr>
        <p:spPr/>
        <p:txBody>
          <a:bodyPr>
            <a:normAutofit lnSpcReduction="10000"/>
          </a:bodyPr>
          <a:lstStyle/>
          <a:p>
            <a:r>
              <a:rPr lang="en-GB" dirty="0"/>
              <a:t>Model-based collaborative filtering using matrix factorisation, trained with Stochastic Gradient Descent (SGD) – based on unit08 exercise</a:t>
            </a:r>
          </a:p>
        </p:txBody>
      </p:sp>
    </p:spTree>
    <p:extLst>
      <p:ext uri="{BB962C8B-B14F-4D97-AF65-F5344CB8AC3E}">
        <p14:creationId xmlns:p14="http://schemas.microsoft.com/office/powerpoint/2010/main" val="6705430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0"/>
          </a:xfrm>
          <a:prstGeom prst="rect">
            <a:avLst/>
          </a:prstGeom>
          <a:solidFill>
            <a:srgbClr val="3114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94360" y="338328"/>
            <a:ext cx="6844181" cy="584775"/>
          </a:xfrm>
          <a:prstGeom prst="rect">
            <a:avLst/>
          </a:prstGeom>
          <a:noFill/>
        </p:spPr>
        <p:txBody>
          <a:bodyPr wrap="none">
            <a:spAutoFit/>
          </a:bodyPr>
          <a:lstStyle/>
          <a:p>
            <a:pPr>
              <a:defRPr sz="3200">
                <a:solidFill>
                  <a:srgbClr val="FFFFFF"/>
                </a:solidFill>
                <a:latin typeface="Aptos Display"/>
              </a:defRPr>
            </a:pPr>
            <a:r>
              <a:rPr lang="en-GB" dirty="0"/>
              <a:t>Steps used to build the traditional model</a:t>
            </a:r>
            <a:endParaRPr dirty="0"/>
          </a:p>
        </p:txBody>
      </p:sp>
      <p:sp>
        <p:nvSpPr>
          <p:cNvPr id="4" name="Rounded Rectangle 3"/>
          <p:cNvSpPr/>
          <p:nvPr/>
        </p:nvSpPr>
        <p:spPr>
          <a:xfrm>
            <a:off x="640080" y="1828800"/>
            <a:ext cx="3246120" cy="1234440"/>
          </a:xfrm>
          <a:prstGeom prst="roundRect">
            <a:avLst/>
          </a:prstGeom>
          <a:solidFill>
            <a:srgbClr val="311445"/>
          </a:solidFill>
          <a:ln w="25400">
            <a:solidFill>
              <a:srgbClr val="AE00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Aptos"/>
              </a:defRPr>
            </a:pPr>
            <a:r>
              <a:rPr dirty="0"/>
              <a:t>01  Pre-processed</a:t>
            </a:r>
            <a:br>
              <a:rPr dirty="0"/>
            </a:br>
            <a:r>
              <a:rPr dirty="0"/>
              <a:t>the data</a:t>
            </a:r>
          </a:p>
        </p:txBody>
      </p:sp>
      <p:sp>
        <p:nvSpPr>
          <p:cNvPr id="5" name="Rounded Rectangle 4"/>
          <p:cNvSpPr/>
          <p:nvPr/>
        </p:nvSpPr>
        <p:spPr>
          <a:xfrm>
            <a:off x="4297680" y="1828800"/>
            <a:ext cx="3246120" cy="1234440"/>
          </a:xfrm>
          <a:prstGeom prst="roundRect">
            <a:avLst/>
          </a:prstGeom>
          <a:solidFill>
            <a:srgbClr val="F6EFF6"/>
          </a:solidFill>
          <a:ln w="25400">
            <a:solidFill>
              <a:srgbClr val="AE00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311445"/>
                </a:solidFill>
                <a:latin typeface="Aptos"/>
              </a:defRPr>
            </a:pPr>
            <a:r>
              <a:rPr dirty="0"/>
              <a:t>02  Built</a:t>
            </a:r>
            <a:br>
              <a:rPr dirty="0"/>
            </a:br>
            <a:r>
              <a:rPr dirty="0"/>
              <a:t>baselines</a:t>
            </a:r>
          </a:p>
        </p:txBody>
      </p:sp>
      <p:sp>
        <p:nvSpPr>
          <p:cNvPr id="6" name="Rounded Rectangle 5"/>
          <p:cNvSpPr/>
          <p:nvPr/>
        </p:nvSpPr>
        <p:spPr>
          <a:xfrm>
            <a:off x="7955279" y="1828800"/>
            <a:ext cx="3246120" cy="1234440"/>
          </a:xfrm>
          <a:prstGeom prst="roundRect">
            <a:avLst/>
          </a:prstGeom>
          <a:solidFill>
            <a:srgbClr val="F6EFF6"/>
          </a:solidFill>
          <a:ln w="25400">
            <a:solidFill>
              <a:srgbClr val="AE00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311445"/>
                </a:solidFill>
                <a:latin typeface="Aptos"/>
              </a:defRPr>
            </a:pPr>
            <a:r>
              <a:rPr dirty="0"/>
              <a:t>03  Converted user</a:t>
            </a:r>
            <a:br>
              <a:rPr dirty="0"/>
            </a:br>
            <a:r>
              <a:rPr dirty="0"/>
              <a:t>and film IDs</a:t>
            </a:r>
          </a:p>
        </p:txBody>
      </p:sp>
      <p:sp>
        <p:nvSpPr>
          <p:cNvPr id="7" name="Rounded Rectangle 6"/>
          <p:cNvSpPr/>
          <p:nvPr/>
        </p:nvSpPr>
        <p:spPr>
          <a:xfrm>
            <a:off x="7955279" y="4343400"/>
            <a:ext cx="3246120" cy="1234440"/>
          </a:xfrm>
          <a:prstGeom prst="roundRect">
            <a:avLst/>
          </a:prstGeom>
          <a:solidFill>
            <a:srgbClr val="F6EFF6"/>
          </a:solidFill>
          <a:ln w="25400">
            <a:solidFill>
              <a:srgbClr val="AE00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311445"/>
                </a:solidFill>
                <a:latin typeface="Aptos"/>
              </a:defRPr>
            </a:pPr>
            <a:r>
              <a:rPr dirty="0"/>
              <a:t>04  Initialised</a:t>
            </a:r>
            <a:br>
              <a:rPr dirty="0"/>
            </a:br>
            <a:r>
              <a:rPr dirty="0"/>
              <a:t>the model</a:t>
            </a:r>
          </a:p>
        </p:txBody>
      </p:sp>
      <p:sp>
        <p:nvSpPr>
          <p:cNvPr id="8" name="Rounded Rectangle 7"/>
          <p:cNvSpPr/>
          <p:nvPr/>
        </p:nvSpPr>
        <p:spPr>
          <a:xfrm>
            <a:off x="4297680" y="4343400"/>
            <a:ext cx="3246120" cy="1234440"/>
          </a:xfrm>
          <a:prstGeom prst="roundRect">
            <a:avLst/>
          </a:prstGeom>
          <a:solidFill>
            <a:srgbClr val="F6EFF6"/>
          </a:solidFill>
          <a:ln w="25400">
            <a:solidFill>
              <a:srgbClr val="AE00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311445"/>
                </a:solidFill>
                <a:latin typeface="Aptos"/>
              </a:defRPr>
            </a:pPr>
            <a:r>
              <a:rPr dirty="0"/>
              <a:t>05  Trained using</a:t>
            </a:r>
            <a:br>
              <a:rPr dirty="0"/>
            </a:br>
            <a:r>
              <a:rPr dirty="0"/>
              <a:t>SGD</a:t>
            </a:r>
          </a:p>
        </p:txBody>
      </p:sp>
      <p:sp>
        <p:nvSpPr>
          <p:cNvPr id="9" name="Rounded Rectangle 8"/>
          <p:cNvSpPr/>
          <p:nvPr/>
        </p:nvSpPr>
        <p:spPr>
          <a:xfrm>
            <a:off x="640080" y="4343400"/>
            <a:ext cx="3246120" cy="1234440"/>
          </a:xfrm>
          <a:prstGeom prst="roundRect">
            <a:avLst/>
          </a:prstGeom>
          <a:solidFill>
            <a:srgbClr val="311445"/>
          </a:solidFill>
          <a:ln w="25400">
            <a:solidFill>
              <a:srgbClr val="AE005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000" b="1">
                <a:solidFill>
                  <a:srgbClr val="FFFFFF"/>
                </a:solidFill>
                <a:latin typeface="Aptos"/>
              </a:defRPr>
            </a:pPr>
            <a:r>
              <a:rPr dirty="0"/>
              <a:t>06  Evaluated</a:t>
            </a:r>
            <a:br>
              <a:rPr dirty="0"/>
            </a:br>
            <a:r>
              <a:rPr dirty="0"/>
              <a:t>predictions</a:t>
            </a:r>
          </a:p>
        </p:txBody>
      </p:sp>
      <p:sp>
        <p:nvSpPr>
          <p:cNvPr id="10" name="Right Arrow 9"/>
          <p:cNvSpPr/>
          <p:nvPr/>
        </p:nvSpPr>
        <p:spPr>
          <a:xfrm>
            <a:off x="3931920" y="2221992"/>
            <a:ext cx="347472" cy="411480"/>
          </a:xfrm>
          <a:prstGeom prst="rightArrow">
            <a:avLst/>
          </a:prstGeom>
          <a:solidFill>
            <a:srgbClr val="AE00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Right Arrow 10"/>
          <p:cNvSpPr/>
          <p:nvPr/>
        </p:nvSpPr>
        <p:spPr>
          <a:xfrm>
            <a:off x="7589520" y="2221992"/>
            <a:ext cx="347472" cy="411480"/>
          </a:xfrm>
          <a:prstGeom prst="rightArrow">
            <a:avLst/>
          </a:prstGeom>
          <a:solidFill>
            <a:srgbClr val="AE00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Down Arrow 11"/>
          <p:cNvSpPr/>
          <p:nvPr/>
        </p:nvSpPr>
        <p:spPr>
          <a:xfrm>
            <a:off x="9253728" y="3246120"/>
            <a:ext cx="594360" cy="822960"/>
          </a:xfrm>
          <a:prstGeom prst="downArrow">
            <a:avLst/>
          </a:prstGeom>
          <a:solidFill>
            <a:srgbClr val="AE00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3" name="Left Arrow 12"/>
          <p:cNvSpPr/>
          <p:nvPr/>
        </p:nvSpPr>
        <p:spPr>
          <a:xfrm>
            <a:off x="7589520" y="4736592"/>
            <a:ext cx="347472" cy="411480"/>
          </a:xfrm>
          <a:prstGeom prst="leftArrow">
            <a:avLst/>
          </a:prstGeom>
          <a:solidFill>
            <a:srgbClr val="AE00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4" name="Left Arrow 13"/>
          <p:cNvSpPr/>
          <p:nvPr/>
        </p:nvSpPr>
        <p:spPr>
          <a:xfrm>
            <a:off x="3931920" y="4736592"/>
            <a:ext cx="347472" cy="411480"/>
          </a:xfrm>
          <a:prstGeom prst="leftArrow">
            <a:avLst/>
          </a:prstGeom>
          <a:solidFill>
            <a:srgbClr val="AE00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0" name="Oval 9">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1" name="Oval 10">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2" name="Oval 11">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3" name="Oval 12">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4" name="Oval 13">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5"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6"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dirty="0"/>
            </a:p>
          </p:txBody>
        </p:sp>
        <p:sp>
          <p:nvSpPr>
            <p:cNvPr id="17"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19" name="Rectangle 18">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useBgFill="1">
        <p:nvSpPr>
          <p:cNvPr id="21" name="Rectangle 20">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grpSp>
        <p:nvGrpSpPr>
          <p:cNvPr id="25" name="Group 24">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26" name="Rectangle 25">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7"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GB" dirty="0"/>
            </a:p>
          </p:txBody>
        </p:sp>
      </p:grpSp>
      <p:sp>
        <p:nvSpPr>
          <p:cNvPr id="2" name="TextBox 1">
            <a:extLst>
              <a:ext uri="{FF2B5EF4-FFF2-40B4-BE49-F238E27FC236}">
                <a16:creationId xmlns:a16="http://schemas.microsoft.com/office/drawing/2014/main" id="{29FF5CA9-6F16-0783-12AB-1BBFD4D8DD4E}"/>
              </a:ext>
            </a:extLst>
          </p:cNvPr>
          <p:cNvSpPr txBox="1"/>
          <p:nvPr/>
        </p:nvSpPr>
        <p:spPr>
          <a:xfrm>
            <a:off x="1000372" y="1209957"/>
            <a:ext cx="3034580" cy="4438087"/>
          </a:xfrm>
          <a:prstGeom prst="rect">
            <a:avLst/>
          </a:prstGeom>
        </p:spPr>
        <p:txBody>
          <a:bodyPr vert="horz" lIns="91440" tIns="45720" rIns="91440" bIns="45720" rtlCol="0" anchor="ctr">
            <a:normAutofit/>
          </a:bodyPr>
          <a:lstStyle/>
          <a:p>
            <a:pPr algn="r">
              <a:spcBef>
                <a:spcPct val="0"/>
              </a:spcBef>
              <a:spcAft>
                <a:spcPts val="600"/>
              </a:spcAft>
            </a:pPr>
            <a:r>
              <a:rPr lang="en-US" sz="3200" dirty="0">
                <a:latin typeface="+mj-lt"/>
                <a:ea typeface="+mj-ea"/>
                <a:cs typeface="+mj-cs"/>
              </a:rPr>
              <a:t>Data Preprocessing</a:t>
            </a:r>
          </a:p>
        </p:txBody>
      </p:sp>
      <p:cxnSp>
        <p:nvCxnSpPr>
          <p:cNvPr id="29" name="Straight Connector 28">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014720DA-B7A1-EE67-14A2-46E8989D29C5}"/>
              </a:ext>
            </a:extLst>
          </p:cNvPr>
          <p:cNvSpPr txBox="1"/>
          <p:nvPr/>
        </p:nvSpPr>
        <p:spPr>
          <a:xfrm>
            <a:off x="4678424" y="1059025"/>
            <a:ext cx="5302189" cy="4739950"/>
          </a:xfrm>
          <a:prstGeom prst="rect">
            <a:avLst/>
          </a:prstGeom>
        </p:spPr>
        <p:txBody>
          <a:bodyPr vert="horz" lIns="91440" tIns="45720" rIns="91440" bIns="45720" rtlCol="0" anchor="ctr">
            <a:normAutofit/>
          </a:bodyPr>
          <a:lstStyle/>
          <a:p>
            <a:pPr marL="342900" indent="-342900">
              <a:spcBef>
                <a:spcPts val="1000"/>
              </a:spcBef>
              <a:buClr>
                <a:schemeClr val="accent1"/>
              </a:buClr>
              <a:buSzPct val="80000"/>
              <a:buFont typeface="Wingdings 3" charset="2"/>
              <a:buChar char=""/>
            </a:pPr>
            <a:r>
              <a:rPr lang="en-US" dirty="0"/>
              <a:t>I imported the data </a:t>
            </a:r>
          </a:p>
          <a:p>
            <a:pPr marL="342900" indent="-342900">
              <a:spcBef>
                <a:spcPts val="1000"/>
              </a:spcBef>
              <a:buClr>
                <a:schemeClr val="accent1"/>
              </a:buClr>
              <a:buSzPct val="80000"/>
              <a:buFont typeface="Wingdings 3" charset="2"/>
              <a:buChar char=""/>
            </a:pPr>
            <a:r>
              <a:rPr lang="en-US" dirty="0"/>
              <a:t>I validated the data – e.g. checking all ratings were between 1 and 5</a:t>
            </a:r>
          </a:p>
          <a:p>
            <a:pPr marL="342900" indent="-342900">
              <a:spcBef>
                <a:spcPts val="1000"/>
              </a:spcBef>
              <a:buClr>
                <a:schemeClr val="accent1"/>
              </a:buClr>
              <a:buSzPct val="80000"/>
              <a:buFont typeface="Wingdings 3" charset="2"/>
              <a:buChar char=""/>
            </a:pPr>
            <a:r>
              <a:rPr lang="en-US" dirty="0"/>
              <a:t>I carried out Exploratory Data Analysis</a:t>
            </a:r>
          </a:p>
          <a:p>
            <a:pPr marL="342900" indent="-342900">
              <a:spcBef>
                <a:spcPts val="1000"/>
              </a:spcBef>
              <a:buClr>
                <a:schemeClr val="accent1"/>
              </a:buClr>
              <a:buSzPct val="80000"/>
              <a:buFont typeface="Wingdings 3" charset="2"/>
              <a:buChar char=""/>
            </a:pPr>
            <a:r>
              <a:rPr lang="en-US" dirty="0"/>
              <a:t>I checked the numbers of ratings, users and films and calculated sparsity (95.5%) 3,706 films.  1,000,209 ratings.  6,040 users</a:t>
            </a:r>
          </a:p>
          <a:p>
            <a:pPr marL="342900" indent="-342900">
              <a:spcBef>
                <a:spcPts val="1000"/>
              </a:spcBef>
              <a:buClr>
                <a:schemeClr val="accent1"/>
              </a:buClr>
              <a:buSzPct val="80000"/>
              <a:buFont typeface="Wingdings 3" charset="2"/>
              <a:buChar char=""/>
            </a:pPr>
            <a:r>
              <a:rPr lang="en-US" dirty="0"/>
              <a:t>I sorted the ratings by timestamp and split the data 80/10/10 (Training/Validation/Test)</a:t>
            </a:r>
          </a:p>
        </p:txBody>
      </p:sp>
    </p:spTree>
    <p:extLst>
      <p:ext uri="{BB962C8B-B14F-4D97-AF65-F5344CB8AC3E}">
        <p14:creationId xmlns:p14="http://schemas.microsoft.com/office/powerpoint/2010/main" val="329981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ED661D0-D032-606F-BF4E-1F442D28FECE}"/>
            </a:ext>
          </a:extLst>
        </p:cNvPr>
        <p:cNvGrpSpPr/>
        <p:nvPr/>
      </p:nvGrpSpPr>
      <p:grpSpPr>
        <a:xfrm>
          <a:off x="0" y="0"/>
          <a:ext cx="0" cy="0"/>
          <a:chOff x="0" y="0"/>
          <a:chExt cx="0" cy="0"/>
        </a:xfrm>
      </p:grpSpPr>
      <p:grpSp>
        <p:nvGrpSpPr>
          <p:cNvPr id="34" name="Group 33">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5" name="Rectangle 34">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36"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38" name="Rectangle 37">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40"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dirty="0"/>
          </a:p>
        </p:txBody>
      </p:sp>
      <p:sp>
        <p:nvSpPr>
          <p:cNvPr id="42" name="Rectangle 41">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extBox 1">
            <a:extLst>
              <a:ext uri="{FF2B5EF4-FFF2-40B4-BE49-F238E27FC236}">
                <a16:creationId xmlns:a16="http://schemas.microsoft.com/office/drawing/2014/main" id="{61E32567-E61A-2C39-100A-ECEE6B335A8D}"/>
              </a:ext>
            </a:extLst>
          </p:cNvPr>
          <p:cNvSpPr txBox="1"/>
          <p:nvPr/>
        </p:nvSpPr>
        <p:spPr>
          <a:xfrm>
            <a:off x="8160773" y="1113063"/>
            <a:ext cx="3382297" cy="2416522"/>
          </a:xfrm>
          <a:prstGeom prst="rect">
            <a:avLst/>
          </a:prstGeom>
        </p:spPr>
        <p:txBody>
          <a:bodyPr vert="horz" lIns="91440" tIns="45720" rIns="91440" bIns="45720" rtlCol="0" anchor="b">
            <a:normAutofit/>
          </a:bodyPr>
          <a:lstStyle/>
          <a:p>
            <a:pPr>
              <a:spcBef>
                <a:spcPct val="0"/>
              </a:spcBef>
              <a:spcAft>
                <a:spcPts val="600"/>
              </a:spcAft>
            </a:pPr>
            <a:r>
              <a:rPr lang="en-US" sz="5400" b="0" i="0" kern="1200" dirty="0">
                <a:solidFill>
                  <a:srgbClr val="EBEBEB"/>
                </a:solidFill>
                <a:latin typeface="+mj-lt"/>
                <a:ea typeface="+mj-ea"/>
                <a:cs typeface="+mj-cs"/>
              </a:rPr>
              <a:t>Baselines</a:t>
            </a:r>
          </a:p>
        </p:txBody>
      </p:sp>
      <p:sp>
        <p:nvSpPr>
          <p:cNvPr id="3" name="TextBox 2">
            <a:extLst>
              <a:ext uri="{FF2B5EF4-FFF2-40B4-BE49-F238E27FC236}">
                <a16:creationId xmlns:a16="http://schemas.microsoft.com/office/drawing/2014/main" id="{593E72BE-5C82-6CAF-DB15-3F9CD0512314}"/>
              </a:ext>
            </a:extLst>
          </p:cNvPr>
          <p:cNvSpPr txBox="1"/>
          <p:nvPr/>
        </p:nvSpPr>
        <p:spPr>
          <a:xfrm>
            <a:off x="4678424" y="1059025"/>
            <a:ext cx="5302189" cy="4739950"/>
          </a:xfrm>
          <a:prstGeom prst="rect">
            <a:avLst/>
          </a:prstGeom>
        </p:spPr>
        <p:txBody>
          <a:bodyPr vert="horz" lIns="91440" tIns="45720" rIns="91440" bIns="45720" rtlCol="0" anchor="ctr">
            <a:normAutofit/>
          </a:bodyPr>
          <a:lstStyle/>
          <a:p>
            <a:pPr>
              <a:spcBef>
                <a:spcPts val="1000"/>
              </a:spcBef>
              <a:buClr>
                <a:schemeClr val="accent1"/>
              </a:buClr>
              <a:buSzPct val="80000"/>
            </a:pPr>
            <a:endParaRPr lang="en-US" dirty="0"/>
          </a:p>
        </p:txBody>
      </p:sp>
      <p:graphicFrame>
        <p:nvGraphicFramePr>
          <p:cNvPr id="6" name="Table 5">
            <a:extLst>
              <a:ext uri="{FF2B5EF4-FFF2-40B4-BE49-F238E27FC236}">
                <a16:creationId xmlns:a16="http://schemas.microsoft.com/office/drawing/2014/main" id="{650CC163-F048-3D3A-CD37-B833B46784EF}"/>
              </a:ext>
            </a:extLst>
          </p:cNvPr>
          <p:cNvGraphicFramePr>
            <a:graphicFrameLocks noGrp="1"/>
          </p:cNvGraphicFramePr>
          <p:nvPr>
            <p:extLst>
              <p:ext uri="{D42A27DB-BD31-4B8C-83A1-F6EECF244321}">
                <p14:modId xmlns:p14="http://schemas.microsoft.com/office/powerpoint/2010/main" val="1060441449"/>
              </p:ext>
            </p:extLst>
          </p:nvPr>
        </p:nvGraphicFramePr>
        <p:xfrm>
          <a:off x="914400" y="724648"/>
          <a:ext cx="6812924" cy="2430675"/>
        </p:xfrm>
        <a:graphic>
          <a:graphicData uri="http://schemas.openxmlformats.org/drawingml/2006/table">
            <a:tbl>
              <a:tblPr firstRow="1" bandRow="1">
                <a:tableStyleId>{5C22544A-7EE6-4342-B048-85BDC9FD1C3A}</a:tableStyleId>
              </a:tblPr>
              <a:tblGrid>
                <a:gridCol w="1865563">
                  <a:extLst>
                    <a:ext uri="{9D8B030D-6E8A-4147-A177-3AD203B41FA5}">
                      <a16:colId xmlns:a16="http://schemas.microsoft.com/office/drawing/2014/main" val="1582794550"/>
                    </a:ext>
                  </a:extLst>
                </a:gridCol>
                <a:gridCol w="2014438">
                  <a:extLst>
                    <a:ext uri="{9D8B030D-6E8A-4147-A177-3AD203B41FA5}">
                      <a16:colId xmlns:a16="http://schemas.microsoft.com/office/drawing/2014/main" val="3690904644"/>
                    </a:ext>
                  </a:extLst>
                </a:gridCol>
                <a:gridCol w="1455312">
                  <a:extLst>
                    <a:ext uri="{9D8B030D-6E8A-4147-A177-3AD203B41FA5}">
                      <a16:colId xmlns:a16="http://schemas.microsoft.com/office/drawing/2014/main" val="1223324178"/>
                    </a:ext>
                  </a:extLst>
                </a:gridCol>
                <a:gridCol w="1477611">
                  <a:extLst>
                    <a:ext uri="{9D8B030D-6E8A-4147-A177-3AD203B41FA5}">
                      <a16:colId xmlns:a16="http://schemas.microsoft.com/office/drawing/2014/main" val="2313530861"/>
                    </a:ext>
                  </a:extLst>
                </a:gridCol>
              </a:tblGrid>
              <a:tr h="461302">
                <a:tc>
                  <a:txBody>
                    <a:bodyPr/>
                    <a:lstStyle/>
                    <a:p>
                      <a:pPr>
                        <a:buNone/>
                      </a:pPr>
                      <a:r>
                        <a:rPr lang="en-GB" sz="1800" dirty="0"/>
                        <a:t>Model</a:t>
                      </a:r>
                    </a:p>
                  </a:txBody>
                  <a:tcPr marL="131167" marR="131167" marT="65584" marB="65584" anchor="ctr"/>
                </a:tc>
                <a:tc>
                  <a:txBody>
                    <a:bodyPr/>
                    <a:lstStyle/>
                    <a:p>
                      <a:pPr>
                        <a:buNone/>
                      </a:pPr>
                      <a:r>
                        <a:rPr lang="en-GB" sz="1800" dirty="0"/>
                        <a:t>Dataset</a:t>
                      </a:r>
                    </a:p>
                  </a:txBody>
                  <a:tcPr marL="131167" marR="131167" marT="65584" marB="65584" anchor="ctr"/>
                </a:tc>
                <a:tc>
                  <a:txBody>
                    <a:bodyPr/>
                    <a:lstStyle/>
                    <a:p>
                      <a:pPr>
                        <a:buNone/>
                      </a:pPr>
                      <a:r>
                        <a:rPr lang="en-GB" sz="1800" dirty="0"/>
                        <a:t>RMSE</a:t>
                      </a:r>
                    </a:p>
                  </a:txBody>
                  <a:tcPr marL="131167" marR="131167" marT="65584" marB="65584" anchor="ctr"/>
                </a:tc>
                <a:tc>
                  <a:txBody>
                    <a:bodyPr/>
                    <a:lstStyle/>
                    <a:p>
                      <a:pPr>
                        <a:buNone/>
                      </a:pPr>
                      <a:r>
                        <a:rPr lang="en-GB" sz="1800" dirty="0"/>
                        <a:t>MAE</a:t>
                      </a:r>
                    </a:p>
                  </a:txBody>
                  <a:tcPr marL="131167" marR="131167" marT="65584" marB="65584" anchor="ctr"/>
                </a:tc>
                <a:extLst>
                  <a:ext uri="{0D108BD9-81ED-4DB2-BD59-A6C34878D82A}">
                    <a16:rowId xmlns:a16="http://schemas.microsoft.com/office/drawing/2014/main" val="3065705148"/>
                  </a:ext>
                </a:extLst>
              </a:tr>
              <a:tr h="501182">
                <a:tc>
                  <a:txBody>
                    <a:bodyPr/>
                    <a:lstStyle/>
                    <a:p>
                      <a:pPr>
                        <a:buNone/>
                      </a:pPr>
                      <a:r>
                        <a:rPr lang="en-GB" sz="1600" dirty="0"/>
                        <a:t>Global mean</a:t>
                      </a:r>
                    </a:p>
                  </a:txBody>
                  <a:tcPr marL="131167" marR="131167" marT="65584" marB="65584" anchor="ctr"/>
                </a:tc>
                <a:tc>
                  <a:txBody>
                    <a:bodyPr/>
                    <a:lstStyle/>
                    <a:p>
                      <a:pPr>
                        <a:buNone/>
                      </a:pPr>
                      <a:r>
                        <a:rPr lang="en-GB" sz="1600" dirty="0"/>
                        <a:t>Validation</a:t>
                      </a:r>
                    </a:p>
                  </a:txBody>
                  <a:tcPr marL="131167" marR="131167" marT="65584" marB="65584" anchor="ctr"/>
                </a:tc>
                <a:tc>
                  <a:txBody>
                    <a:bodyPr/>
                    <a:lstStyle/>
                    <a:p>
                      <a:pPr>
                        <a:buNone/>
                      </a:pPr>
                      <a:r>
                        <a:rPr lang="en-GB" sz="1600" dirty="0"/>
                        <a:t>1.1191</a:t>
                      </a:r>
                    </a:p>
                  </a:txBody>
                  <a:tcPr marL="131167" marR="131167" marT="65584" marB="65584" anchor="ctr"/>
                </a:tc>
                <a:tc>
                  <a:txBody>
                    <a:bodyPr/>
                    <a:lstStyle/>
                    <a:p>
                      <a:pPr>
                        <a:buNone/>
                      </a:pPr>
                      <a:r>
                        <a:rPr lang="en-GB" sz="1600" dirty="0"/>
                        <a:t>0.9366</a:t>
                      </a:r>
                    </a:p>
                  </a:txBody>
                  <a:tcPr marL="131167" marR="131167" marT="65584" marB="65584" anchor="ctr"/>
                </a:tc>
                <a:extLst>
                  <a:ext uri="{0D108BD9-81ED-4DB2-BD59-A6C34878D82A}">
                    <a16:rowId xmlns:a16="http://schemas.microsoft.com/office/drawing/2014/main" val="2677285505"/>
                  </a:ext>
                </a:extLst>
              </a:tr>
              <a:tr h="489397">
                <a:tc>
                  <a:txBody>
                    <a:bodyPr/>
                    <a:lstStyle/>
                    <a:p>
                      <a:pPr>
                        <a:buNone/>
                      </a:pPr>
                      <a:r>
                        <a:rPr lang="en-GB" sz="1600" dirty="0"/>
                        <a:t>Global mean</a:t>
                      </a:r>
                    </a:p>
                  </a:txBody>
                  <a:tcPr marL="131167" marR="131167" marT="65584" marB="65584" anchor="ctr"/>
                </a:tc>
                <a:tc>
                  <a:txBody>
                    <a:bodyPr/>
                    <a:lstStyle/>
                    <a:p>
                      <a:pPr>
                        <a:buNone/>
                      </a:pPr>
                      <a:r>
                        <a:rPr lang="en-GB" sz="1600" dirty="0"/>
                        <a:t>Test</a:t>
                      </a:r>
                    </a:p>
                  </a:txBody>
                  <a:tcPr marL="131167" marR="131167" marT="65584" marB="65584" anchor="ctr"/>
                </a:tc>
                <a:tc>
                  <a:txBody>
                    <a:bodyPr/>
                    <a:lstStyle/>
                    <a:p>
                      <a:pPr>
                        <a:buNone/>
                      </a:pPr>
                      <a:r>
                        <a:rPr lang="en-GB" sz="1600" dirty="0"/>
                        <a:t>1.0893</a:t>
                      </a:r>
                    </a:p>
                  </a:txBody>
                  <a:tcPr marL="131167" marR="131167" marT="65584" marB="65584" anchor="ctr"/>
                </a:tc>
                <a:tc>
                  <a:txBody>
                    <a:bodyPr/>
                    <a:lstStyle/>
                    <a:p>
                      <a:pPr>
                        <a:buNone/>
                      </a:pPr>
                      <a:r>
                        <a:rPr lang="en-GB" sz="1600" dirty="0"/>
                        <a:t>0.9025</a:t>
                      </a:r>
                    </a:p>
                  </a:txBody>
                  <a:tcPr marL="131167" marR="131167" marT="65584" marB="65584" anchor="ctr"/>
                </a:tc>
                <a:extLst>
                  <a:ext uri="{0D108BD9-81ED-4DB2-BD59-A6C34878D82A}">
                    <a16:rowId xmlns:a16="http://schemas.microsoft.com/office/drawing/2014/main" val="1305787141"/>
                  </a:ext>
                </a:extLst>
              </a:tr>
              <a:tr h="502276">
                <a:tc>
                  <a:txBody>
                    <a:bodyPr/>
                    <a:lstStyle/>
                    <a:p>
                      <a:pPr>
                        <a:buNone/>
                      </a:pPr>
                      <a:r>
                        <a:rPr lang="en-GB" sz="1600" dirty="0"/>
                        <a:t>Bias baseline</a:t>
                      </a:r>
                    </a:p>
                  </a:txBody>
                  <a:tcPr marL="131167" marR="131167" marT="65584" marB="65584" anchor="ctr"/>
                </a:tc>
                <a:tc>
                  <a:txBody>
                    <a:bodyPr/>
                    <a:lstStyle/>
                    <a:p>
                      <a:pPr>
                        <a:buNone/>
                      </a:pPr>
                      <a:r>
                        <a:rPr lang="en-GB" sz="1600" dirty="0"/>
                        <a:t>Validation</a:t>
                      </a:r>
                    </a:p>
                  </a:txBody>
                  <a:tcPr marL="131167" marR="131167" marT="65584" marB="65584" anchor="ctr"/>
                </a:tc>
                <a:tc>
                  <a:txBody>
                    <a:bodyPr/>
                    <a:lstStyle/>
                    <a:p>
                      <a:pPr>
                        <a:buNone/>
                      </a:pPr>
                      <a:r>
                        <a:rPr lang="en-GB" sz="1600" dirty="0"/>
                        <a:t>0.9726</a:t>
                      </a:r>
                    </a:p>
                  </a:txBody>
                  <a:tcPr marL="131167" marR="131167" marT="65584" marB="65584" anchor="ctr"/>
                </a:tc>
                <a:tc>
                  <a:txBody>
                    <a:bodyPr/>
                    <a:lstStyle/>
                    <a:p>
                      <a:pPr>
                        <a:buNone/>
                      </a:pPr>
                      <a:r>
                        <a:rPr lang="en-GB" sz="1600" dirty="0"/>
                        <a:t>0.7759</a:t>
                      </a:r>
                    </a:p>
                  </a:txBody>
                  <a:tcPr marL="131167" marR="131167" marT="65584" marB="65584" anchor="ctr"/>
                </a:tc>
                <a:extLst>
                  <a:ext uri="{0D108BD9-81ED-4DB2-BD59-A6C34878D82A}">
                    <a16:rowId xmlns:a16="http://schemas.microsoft.com/office/drawing/2014/main" val="95330040"/>
                  </a:ext>
                </a:extLst>
              </a:tr>
              <a:tr h="476518">
                <a:tc>
                  <a:txBody>
                    <a:bodyPr/>
                    <a:lstStyle/>
                    <a:p>
                      <a:pPr>
                        <a:buNone/>
                      </a:pPr>
                      <a:r>
                        <a:rPr lang="en-GB" sz="1600" dirty="0"/>
                        <a:t>Bias baseline</a:t>
                      </a:r>
                    </a:p>
                  </a:txBody>
                  <a:tcPr marL="131167" marR="131167" marT="65584" marB="65584" anchor="ctr"/>
                </a:tc>
                <a:tc>
                  <a:txBody>
                    <a:bodyPr/>
                    <a:lstStyle/>
                    <a:p>
                      <a:pPr>
                        <a:buNone/>
                      </a:pPr>
                      <a:r>
                        <a:rPr lang="en-GB" sz="1600" dirty="0"/>
                        <a:t>Test</a:t>
                      </a:r>
                    </a:p>
                  </a:txBody>
                  <a:tcPr marL="131167" marR="131167" marT="65584" marB="65584" anchor="ctr"/>
                </a:tc>
                <a:tc>
                  <a:txBody>
                    <a:bodyPr/>
                    <a:lstStyle/>
                    <a:p>
                      <a:pPr>
                        <a:buNone/>
                      </a:pPr>
                      <a:r>
                        <a:rPr lang="en-GB" sz="1600" dirty="0"/>
                        <a:t>0.9451</a:t>
                      </a:r>
                    </a:p>
                  </a:txBody>
                  <a:tcPr marL="131167" marR="131167" marT="65584" marB="65584" anchor="ctr"/>
                </a:tc>
                <a:tc>
                  <a:txBody>
                    <a:bodyPr/>
                    <a:lstStyle/>
                    <a:p>
                      <a:pPr>
                        <a:buNone/>
                      </a:pPr>
                      <a:r>
                        <a:rPr lang="en-GB" sz="1600" dirty="0"/>
                        <a:t>0.7411</a:t>
                      </a:r>
                    </a:p>
                  </a:txBody>
                  <a:tcPr marL="131167" marR="131167" marT="65584" marB="65584" anchor="ctr"/>
                </a:tc>
                <a:extLst>
                  <a:ext uri="{0D108BD9-81ED-4DB2-BD59-A6C34878D82A}">
                    <a16:rowId xmlns:a16="http://schemas.microsoft.com/office/drawing/2014/main" val="2504882697"/>
                  </a:ext>
                </a:extLst>
              </a:tr>
            </a:tbl>
          </a:graphicData>
        </a:graphic>
      </p:graphicFrame>
      <p:sp>
        <p:nvSpPr>
          <p:cNvPr id="18" name="TextBox 17">
            <a:extLst>
              <a:ext uri="{FF2B5EF4-FFF2-40B4-BE49-F238E27FC236}">
                <a16:creationId xmlns:a16="http://schemas.microsoft.com/office/drawing/2014/main" id="{00D19C13-4255-9D5F-8FCC-E140F8117F5C}"/>
              </a:ext>
            </a:extLst>
          </p:cNvPr>
          <p:cNvSpPr txBox="1"/>
          <p:nvPr/>
        </p:nvSpPr>
        <p:spPr>
          <a:xfrm>
            <a:off x="633892" y="4112496"/>
            <a:ext cx="10489720" cy="1692771"/>
          </a:xfrm>
          <a:prstGeom prst="rect">
            <a:avLst/>
          </a:prstGeom>
          <a:noFill/>
        </p:spPr>
        <p:txBody>
          <a:bodyPr wrap="square">
            <a:spAutoFit/>
          </a:bodyPr>
          <a:lstStyle/>
          <a:p>
            <a:pPr marL="285750" indent="-285750">
              <a:spcBef>
                <a:spcPts val="600"/>
              </a:spcBef>
              <a:spcAft>
                <a:spcPts val="600"/>
              </a:spcAft>
              <a:buFont typeface="Arial" panose="020B0604020202020204" pitchFamily="34" charset="0"/>
              <a:buChar char="•"/>
            </a:pPr>
            <a:r>
              <a:rPr lang="en-GB" sz="1400" dirty="0"/>
              <a:t>Global Mean – predicts the same (mean average) rating for every user and film.  This is used as a benchmark</a:t>
            </a:r>
          </a:p>
          <a:p>
            <a:pPr marL="285750" indent="-285750">
              <a:spcBef>
                <a:spcPts val="600"/>
              </a:spcBef>
              <a:spcAft>
                <a:spcPts val="600"/>
              </a:spcAft>
              <a:buFont typeface="Arial" panose="020B0604020202020204" pitchFamily="34" charset="0"/>
              <a:buChar char="•"/>
            </a:pPr>
            <a:r>
              <a:rPr lang="en-GB" sz="1400" dirty="0"/>
              <a:t>Bias Baseline – accounts for users who always give high/low ratings.  Accounts for films that usually receive high/low ratings.  Results are better than global mean overall – as expected.</a:t>
            </a:r>
            <a:endParaRPr lang="en-GB" sz="800" dirty="0"/>
          </a:p>
          <a:p>
            <a:pPr marL="285750" indent="-285750">
              <a:spcBef>
                <a:spcPts val="600"/>
              </a:spcBef>
              <a:spcAft>
                <a:spcPts val="600"/>
              </a:spcAft>
              <a:buFont typeface="Arial" panose="020B0604020202020204" pitchFamily="34" charset="0"/>
              <a:buChar char="•"/>
            </a:pPr>
            <a:r>
              <a:rPr lang="en-GB" sz="1400" dirty="0"/>
              <a:t>Global mean and Bias Baseline show slightly better results against test data than validation data.  I would consider checking for overfitting by further exploring the RMSE variations between the training and validation datasets.  The results could also be explained by the different time periods covered by the data.</a:t>
            </a:r>
          </a:p>
        </p:txBody>
      </p:sp>
    </p:spTree>
    <p:extLst>
      <p:ext uri="{BB962C8B-B14F-4D97-AF65-F5344CB8AC3E}">
        <p14:creationId xmlns:p14="http://schemas.microsoft.com/office/powerpoint/2010/main" val="4201700631"/>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8AE1E-6393-01A3-5F3B-1834E4B17F9F}"/>
              </a:ext>
            </a:extLst>
          </p:cNvPr>
          <p:cNvSpPr>
            <a:spLocks noGrp="1"/>
          </p:cNvSpPr>
          <p:nvPr>
            <p:ph type="title"/>
          </p:nvPr>
        </p:nvSpPr>
        <p:spPr/>
        <p:txBody>
          <a:bodyPr/>
          <a:lstStyle/>
          <a:p>
            <a:r>
              <a:rPr lang="en-GB" dirty="0"/>
              <a:t>Matrix Factorisation using Stochastic Gradient Descent (SGD)</a:t>
            </a:r>
            <a:br>
              <a:rPr lang="en-GB" dirty="0"/>
            </a:br>
            <a:endParaRPr lang="en-GB" dirty="0"/>
          </a:p>
        </p:txBody>
      </p:sp>
      <p:sp>
        <p:nvSpPr>
          <p:cNvPr id="4" name="Text Placeholder 3">
            <a:extLst>
              <a:ext uri="{FF2B5EF4-FFF2-40B4-BE49-F238E27FC236}">
                <a16:creationId xmlns:a16="http://schemas.microsoft.com/office/drawing/2014/main" id="{88ED10BB-CC87-97FE-E876-2E304E9020B7}"/>
              </a:ext>
            </a:extLst>
          </p:cNvPr>
          <p:cNvSpPr>
            <a:spLocks noGrp="1"/>
          </p:cNvSpPr>
          <p:nvPr>
            <p:ph type="body" sz="half" idx="2"/>
          </p:nvPr>
        </p:nvSpPr>
        <p:spPr/>
        <p:txBody>
          <a:bodyPr>
            <a:normAutofit fontScale="92500" lnSpcReduction="20000"/>
          </a:bodyPr>
          <a:lstStyle/>
          <a:p>
            <a:r>
              <a:rPr lang="en-GB" sz="2400" dirty="0"/>
              <a:t>I used matrix factorisation trained using SGD.  This gave a lower RMSE of 0.9187.  </a:t>
            </a:r>
          </a:p>
          <a:p>
            <a:endParaRPr lang="en-GB" sz="1100" dirty="0"/>
          </a:p>
          <a:p>
            <a:r>
              <a:rPr lang="en-GB" sz="2400" dirty="0"/>
              <a:t>This shows that allowing the model to discover hidden features of films and users can further improve prediction accuracy.</a:t>
            </a:r>
          </a:p>
          <a:p>
            <a:endParaRPr lang="en-GB" sz="2400" dirty="0"/>
          </a:p>
          <a:p>
            <a:r>
              <a:rPr lang="en-GB" sz="2400" dirty="0"/>
              <a:t>The NDCG@10 of this model was 0.8785 (976 users evaluated)</a:t>
            </a:r>
          </a:p>
          <a:p>
            <a:endParaRPr lang="en-GB" dirty="0"/>
          </a:p>
        </p:txBody>
      </p:sp>
    </p:spTree>
    <p:extLst>
      <p:ext uri="{BB962C8B-B14F-4D97-AF65-F5344CB8AC3E}">
        <p14:creationId xmlns:p14="http://schemas.microsoft.com/office/powerpoint/2010/main" val="2536623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C3B4B-0CB6-7AF4-1492-C9C95FDBFFC2}"/>
              </a:ext>
            </a:extLst>
          </p:cNvPr>
          <p:cNvSpPr>
            <a:spLocks noGrp="1"/>
          </p:cNvSpPr>
          <p:nvPr>
            <p:ph type="title"/>
          </p:nvPr>
        </p:nvSpPr>
        <p:spPr/>
        <p:txBody>
          <a:bodyPr/>
          <a:lstStyle/>
          <a:p>
            <a:r>
              <a:rPr lang="en-GB" dirty="0"/>
              <a:t>UI Demonstration</a:t>
            </a:r>
          </a:p>
        </p:txBody>
      </p:sp>
      <p:sp>
        <p:nvSpPr>
          <p:cNvPr id="3" name="Text Placeholder 2">
            <a:extLst>
              <a:ext uri="{FF2B5EF4-FFF2-40B4-BE49-F238E27FC236}">
                <a16:creationId xmlns:a16="http://schemas.microsoft.com/office/drawing/2014/main" id="{81E50459-C623-8862-4387-CC1C7976EC83}"/>
              </a:ext>
            </a:extLst>
          </p:cNvPr>
          <p:cNvSpPr>
            <a:spLocks noGrp="1"/>
          </p:cNvSpPr>
          <p:nvPr>
            <p:ph type="body" idx="1"/>
          </p:nvPr>
        </p:nvSpPr>
        <p:spPr>
          <a:xfrm>
            <a:off x="553792" y="5024966"/>
            <a:ext cx="11140225" cy="1053861"/>
          </a:xfrm>
        </p:spPr>
        <p:txBody>
          <a:bodyPr/>
          <a:lstStyle/>
          <a:p>
            <a:r>
              <a:rPr lang="en-GB" dirty="0">
                <a:solidFill>
                  <a:schemeClr val="tx1"/>
                </a:solidFill>
              </a:rPr>
              <a:t>I built a simple UI using </a:t>
            </a:r>
            <a:r>
              <a:rPr lang="en-GB" dirty="0" err="1">
                <a:solidFill>
                  <a:schemeClr val="tx1"/>
                </a:solidFill>
              </a:rPr>
              <a:t>Gradio</a:t>
            </a:r>
            <a:r>
              <a:rPr lang="en-GB" dirty="0">
                <a:solidFill>
                  <a:schemeClr val="tx1"/>
                </a:solidFill>
              </a:rPr>
              <a:t> to show the model in action.  Here are some screenshots to show its performance</a:t>
            </a:r>
          </a:p>
        </p:txBody>
      </p:sp>
    </p:spTree>
    <p:extLst>
      <p:ext uri="{BB962C8B-B14F-4D97-AF65-F5344CB8AC3E}">
        <p14:creationId xmlns:p14="http://schemas.microsoft.com/office/powerpoint/2010/main" val="2904672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88DD50E-1D2D-48C6-A470-79FB7F337F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useBgFill="1">
        <p:nvSpPr>
          <p:cNvPr id="28" name="Rectangle 27">
            <a:extLst>
              <a:ext uri="{FF2B5EF4-FFF2-40B4-BE49-F238E27FC236}">
                <a16:creationId xmlns:a16="http://schemas.microsoft.com/office/drawing/2014/main" id="{85F279D6-ED25-4D3F-9479-8ABB21867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9" name="Freeform: Shape 28">
            <a:extLst>
              <a:ext uri="{FF2B5EF4-FFF2-40B4-BE49-F238E27FC236}">
                <a16:creationId xmlns:a16="http://schemas.microsoft.com/office/drawing/2014/main" id="{38D0B1B4-C487-47EF-B7D0-421066454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0" name="Freeform: Shape 29">
            <a:extLst>
              <a:ext uri="{FF2B5EF4-FFF2-40B4-BE49-F238E27FC236}">
                <a16:creationId xmlns:a16="http://schemas.microsoft.com/office/drawing/2014/main" id="{0214736A-03B2-4B91-B0AF-B21213F3B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pic>
        <p:nvPicPr>
          <p:cNvPr id="7" name="Picture 6">
            <a:extLst>
              <a:ext uri="{FF2B5EF4-FFF2-40B4-BE49-F238E27FC236}">
                <a16:creationId xmlns:a16="http://schemas.microsoft.com/office/drawing/2014/main" id="{3573EAEE-4583-2047-D889-2EEAA8181B05}"/>
              </a:ext>
            </a:extLst>
          </p:cNvPr>
          <p:cNvPicPr>
            <a:picLocks noChangeAspect="1"/>
          </p:cNvPicPr>
          <p:nvPr/>
        </p:nvPicPr>
        <p:blipFill>
          <a:blip r:embed="rId3"/>
          <a:stretch>
            <a:fillRect/>
          </a:stretch>
        </p:blipFill>
        <p:spPr>
          <a:xfrm>
            <a:off x="3008758" y="877741"/>
            <a:ext cx="8539776" cy="5102516"/>
          </a:xfrm>
          <a:prstGeom prst="rect">
            <a:avLst/>
          </a:prstGeom>
        </p:spPr>
      </p:pic>
    </p:spTree>
    <p:extLst>
      <p:ext uri="{BB962C8B-B14F-4D97-AF65-F5344CB8AC3E}">
        <p14:creationId xmlns:p14="http://schemas.microsoft.com/office/powerpoint/2010/main" val="42238455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76880B-D231-61F3-A1EF-2E813D7E521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1616407-3E4D-4469-BDAF-3837EBF9FD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7" name="Freeform: Shape 6">
            <a:extLst>
              <a:ext uri="{FF2B5EF4-FFF2-40B4-BE49-F238E27FC236}">
                <a16:creationId xmlns:a16="http://schemas.microsoft.com/office/drawing/2014/main" id="{49AF1E17-E2EA-4DFA-ABA4-1FF1F27FA1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8" name="Freeform 5">
            <a:extLst>
              <a:ext uri="{FF2B5EF4-FFF2-40B4-BE49-F238E27FC236}">
                <a16:creationId xmlns:a16="http://schemas.microsoft.com/office/drawing/2014/main" id="{5B254329-6146-42F5-9E30-4BB7D94579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880752" y="1770635"/>
            <a:ext cx="3346744" cy="612847"/>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dirty="0"/>
          </a:p>
        </p:txBody>
      </p:sp>
      <p:pic>
        <p:nvPicPr>
          <p:cNvPr id="4" name="Picture 3">
            <a:extLst>
              <a:ext uri="{FF2B5EF4-FFF2-40B4-BE49-F238E27FC236}">
                <a16:creationId xmlns:a16="http://schemas.microsoft.com/office/drawing/2014/main" id="{F010A9D9-C5D1-CFB5-4659-24E6FC56F577}"/>
              </a:ext>
            </a:extLst>
          </p:cNvPr>
          <p:cNvPicPr>
            <a:picLocks noChangeAspect="1"/>
          </p:cNvPicPr>
          <p:nvPr/>
        </p:nvPicPr>
        <p:blipFill>
          <a:blip r:embed="rId3"/>
          <a:srcRect r="382"/>
          <a:stretch>
            <a:fillRect/>
          </a:stretch>
        </p:blipFill>
        <p:spPr>
          <a:xfrm>
            <a:off x="2260148" y="643467"/>
            <a:ext cx="9288385" cy="5571066"/>
          </a:xfrm>
          <a:custGeom>
            <a:avLst/>
            <a:gdLst/>
            <a:ahLst/>
            <a:cxnLst/>
            <a:rect l="l" t="t" r="r" b="b"/>
            <a:pathLst>
              <a:path w="6933502" h="5571066">
                <a:moveTo>
                  <a:pt x="55276" y="0"/>
                </a:moveTo>
                <a:lnTo>
                  <a:pt x="6933502" y="0"/>
                </a:lnTo>
                <a:lnTo>
                  <a:pt x="6933502" y="5571066"/>
                </a:lnTo>
                <a:lnTo>
                  <a:pt x="0" y="5571066"/>
                </a:lnTo>
                <a:lnTo>
                  <a:pt x="0" y="5571065"/>
                </a:lnTo>
                <a:lnTo>
                  <a:pt x="50061" y="5571065"/>
                </a:lnTo>
                <a:lnTo>
                  <a:pt x="58753" y="5504841"/>
                </a:lnTo>
                <a:lnTo>
                  <a:pt x="73023" y="5397085"/>
                </a:lnTo>
                <a:lnTo>
                  <a:pt x="88078" y="5277828"/>
                </a:lnTo>
                <a:lnTo>
                  <a:pt x="103917" y="5143437"/>
                </a:lnTo>
                <a:lnTo>
                  <a:pt x="120697" y="4996938"/>
                </a:lnTo>
                <a:lnTo>
                  <a:pt x="137476" y="4837726"/>
                </a:lnTo>
                <a:lnTo>
                  <a:pt x="154570" y="4668224"/>
                </a:lnTo>
                <a:lnTo>
                  <a:pt x="170408" y="4485403"/>
                </a:lnTo>
                <a:lnTo>
                  <a:pt x="185620" y="4294107"/>
                </a:lnTo>
                <a:lnTo>
                  <a:pt x="199420" y="4091914"/>
                </a:lnTo>
                <a:lnTo>
                  <a:pt x="212593" y="3881246"/>
                </a:lnTo>
                <a:lnTo>
                  <a:pt x="224982" y="3661498"/>
                </a:lnTo>
                <a:lnTo>
                  <a:pt x="229373" y="3548900"/>
                </a:lnTo>
                <a:lnTo>
                  <a:pt x="234234" y="3433880"/>
                </a:lnTo>
                <a:lnTo>
                  <a:pt x="238782" y="3317044"/>
                </a:lnTo>
                <a:lnTo>
                  <a:pt x="241761" y="3199603"/>
                </a:lnTo>
                <a:lnTo>
                  <a:pt x="244427" y="3079740"/>
                </a:lnTo>
                <a:lnTo>
                  <a:pt x="247250" y="2958667"/>
                </a:lnTo>
                <a:lnTo>
                  <a:pt x="249132" y="2835172"/>
                </a:lnTo>
                <a:lnTo>
                  <a:pt x="249132" y="2710467"/>
                </a:lnTo>
                <a:lnTo>
                  <a:pt x="250073" y="2584550"/>
                </a:lnTo>
                <a:lnTo>
                  <a:pt x="249132" y="2457423"/>
                </a:lnTo>
                <a:lnTo>
                  <a:pt x="247250" y="2328480"/>
                </a:lnTo>
                <a:lnTo>
                  <a:pt x="245525" y="2199537"/>
                </a:lnTo>
                <a:lnTo>
                  <a:pt x="241761" y="2068778"/>
                </a:lnTo>
                <a:lnTo>
                  <a:pt x="237841" y="1936808"/>
                </a:lnTo>
                <a:lnTo>
                  <a:pt x="233293" y="1804838"/>
                </a:lnTo>
                <a:lnTo>
                  <a:pt x="226863" y="1671657"/>
                </a:lnTo>
                <a:lnTo>
                  <a:pt x="219179" y="1537265"/>
                </a:lnTo>
                <a:lnTo>
                  <a:pt x="211809" y="1402269"/>
                </a:lnTo>
                <a:lnTo>
                  <a:pt x="202400" y="1267272"/>
                </a:lnTo>
                <a:lnTo>
                  <a:pt x="191109" y="1130459"/>
                </a:lnTo>
                <a:lnTo>
                  <a:pt x="179818" y="995462"/>
                </a:lnTo>
                <a:lnTo>
                  <a:pt x="166801" y="858044"/>
                </a:lnTo>
                <a:lnTo>
                  <a:pt x="152531" y="720020"/>
                </a:lnTo>
                <a:lnTo>
                  <a:pt x="137476" y="583812"/>
                </a:lnTo>
                <a:lnTo>
                  <a:pt x="119912" y="445789"/>
                </a:lnTo>
                <a:lnTo>
                  <a:pt x="101094" y="308370"/>
                </a:lnTo>
                <a:lnTo>
                  <a:pt x="82432" y="170347"/>
                </a:lnTo>
                <a:lnTo>
                  <a:pt x="60635" y="32929"/>
                </a:lnTo>
                <a:close/>
              </a:path>
            </a:pathLst>
          </a:custGeom>
        </p:spPr>
      </p:pic>
      <p:sp>
        <p:nvSpPr>
          <p:cNvPr id="10" name="Rectangle 9">
            <a:extLst>
              <a:ext uri="{FF2B5EF4-FFF2-40B4-BE49-F238E27FC236}">
                <a16:creationId xmlns:a16="http://schemas.microsoft.com/office/drawing/2014/main" id="{72BE43CF-5A8F-4260-9B74-14E5BE9D6E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9544038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5F279D6-ED25-4D3F-9479-8ABB21867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38D0B1B4-C487-47EF-B7D0-421066454C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275" y="643466"/>
            <a:ext cx="1970939" cy="5571067"/>
          </a:xfrm>
          <a:custGeom>
            <a:avLst/>
            <a:gdLst>
              <a:gd name="connsiteX0" fmla="*/ 0 w 1970939"/>
              <a:gd name="connsiteY0" fmla="*/ 0 h 5571067"/>
              <a:gd name="connsiteX1" fmla="*/ 1774861 w 1970939"/>
              <a:gd name="connsiteY1" fmla="*/ 0 h 5571067"/>
              <a:gd name="connsiteX2" fmla="*/ 1780256 w 1970939"/>
              <a:gd name="connsiteY2" fmla="*/ 32931 h 5571067"/>
              <a:gd name="connsiteX3" fmla="*/ 1802197 w 1970939"/>
              <a:gd name="connsiteY3" fmla="*/ 170349 h 5571067"/>
              <a:gd name="connsiteX4" fmla="*/ 1820981 w 1970939"/>
              <a:gd name="connsiteY4" fmla="*/ 308372 h 5571067"/>
              <a:gd name="connsiteX5" fmla="*/ 1839923 w 1970939"/>
              <a:gd name="connsiteY5" fmla="*/ 445791 h 5571067"/>
              <a:gd name="connsiteX6" fmla="*/ 1857602 w 1970939"/>
              <a:gd name="connsiteY6" fmla="*/ 583814 h 5571067"/>
              <a:gd name="connsiteX7" fmla="*/ 1872756 w 1970939"/>
              <a:gd name="connsiteY7" fmla="*/ 720022 h 5571067"/>
              <a:gd name="connsiteX8" fmla="*/ 1887120 w 1970939"/>
              <a:gd name="connsiteY8" fmla="*/ 858046 h 5571067"/>
              <a:gd name="connsiteX9" fmla="*/ 1900223 w 1970939"/>
              <a:gd name="connsiteY9" fmla="*/ 995464 h 5571067"/>
              <a:gd name="connsiteX10" fmla="*/ 1911588 w 1970939"/>
              <a:gd name="connsiteY10" fmla="*/ 1130461 h 5571067"/>
              <a:gd name="connsiteX11" fmla="*/ 1922953 w 1970939"/>
              <a:gd name="connsiteY11" fmla="*/ 1267274 h 5571067"/>
              <a:gd name="connsiteX12" fmla="*/ 1932424 w 1970939"/>
              <a:gd name="connsiteY12" fmla="*/ 1402271 h 5571067"/>
              <a:gd name="connsiteX13" fmla="*/ 1939842 w 1970939"/>
              <a:gd name="connsiteY13" fmla="*/ 1537267 h 5571067"/>
              <a:gd name="connsiteX14" fmla="*/ 1947577 w 1970939"/>
              <a:gd name="connsiteY14" fmla="*/ 1671659 h 5571067"/>
              <a:gd name="connsiteX15" fmla="*/ 1954049 w 1970939"/>
              <a:gd name="connsiteY15" fmla="*/ 1804840 h 5571067"/>
              <a:gd name="connsiteX16" fmla="*/ 1958627 w 1970939"/>
              <a:gd name="connsiteY16" fmla="*/ 1936810 h 5571067"/>
              <a:gd name="connsiteX17" fmla="*/ 1962573 w 1970939"/>
              <a:gd name="connsiteY17" fmla="*/ 2068780 h 5571067"/>
              <a:gd name="connsiteX18" fmla="*/ 1966361 w 1970939"/>
              <a:gd name="connsiteY18" fmla="*/ 2199539 h 5571067"/>
              <a:gd name="connsiteX19" fmla="*/ 1968098 w 1970939"/>
              <a:gd name="connsiteY19" fmla="*/ 2328482 h 5571067"/>
              <a:gd name="connsiteX20" fmla="*/ 1969992 w 1970939"/>
              <a:gd name="connsiteY20" fmla="*/ 2457425 h 5571067"/>
              <a:gd name="connsiteX21" fmla="*/ 1970939 w 1970939"/>
              <a:gd name="connsiteY21" fmla="*/ 2584552 h 5571067"/>
              <a:gd name="connsiteX22" fmla="*/ 1969992 w 1970939"/>
              <a:gd name="connsiteY22" fmla="*/ 2710469 h 5571067"/>
              <a:gd name="connsiteX23" fmla="*/ 1969992 w 1970939"/>
              <a:gd name="connsiteY23" fmla="*/ 2835174 h 5571067"/>
              <a:gd name="connsiteX24" fmla="*/ 1968098 w 1970939"/>
              <a:gd name="connsiteY24" fmla="*/ 2958669 h 5571067"/>
              <a:gd name="connsiteX25" fmla="*/ 1965256 w 1970939"/>
              <a:gd name="connsiteY25" fmla="*/ 3079742 h 5571067"/>
              <a:gd name="connsiteX26" fmla="*/ 1962573 w 1970939"/>
              <a:gd name="connsiteY26" fmla="*/ 3199605 h 5571067"/>
              <a:gd name="connsiteX27" fmla="*/ 1959574 w 1970939"/>
              <a:gd name="connsiteY27" fmla="*/ 3317046 h 5571067"/>
              <a:gd name="connsiteX28" fmla="*/ 1954996 w 1970939"/>
              <a:gd name="connsiteY28" fmla="*/ 3433882 h 5571067"/>
              <a:gd name="connsiteX29" fmla="*/ 1950103 w 1970939"/>
              <a:gd name="connsiteY29" fmla="*/ 3548902 h 5571067"/>
              <a:gd name="connsiteX30" fmla="*/ 1945683 w 1970939"/>
              <a:gd name="connsiteY30" fmla="*/ 3661500 h 5571067"/>
              <a:gd name="connsiteX31" fmla="*/ 1933213 w 1970939"/>
              <a:gd name="connsiteY31" fmla="*/ 3881248 h 5571067"/>
              <a:gd name="connsiteX32" fmla="*/ 1919953 w 1970939"/>
              <a:gd name="connsiteY32" fmla="*/ 4091916 h 5571067"/>
              <a:gd name="connsiteX33" fmla="*/ 1906063 w 1970939"/>
              <a:gd name="connsiteY33" fmla="*/ 4294109 h 5571067"/>
              <a:gd name="connsiteX34" fmla="*/ 1890751 w 1970939"/>
              <a:gd name="connsiteY34" fmla="*/ 4485405 h 5571067"/>
              <a:gd name="connsiteX35" fmla="*/ 1874809 w 1970939"/>
              <a:gd name="connsiteY35" fmla="*/ 4668226 h 5571067"/>
              <a:gd name="connsiteX36" fmla="*/ 1857602 w 1970939"/>
              <a:gd name="connsiteY36" fmla="*/ 4837728 h 5571067"/>
              <a:gd name="connsiteX37" fmla="*/ 1840713 w 1970939"/>
              <a:gd name="connsiteY37" fmla="*/ 4996940 h 5571067"/>
              <a:gd name="connsiteX38" fmla="*/ 1823823 w 1970939"/>
              <a:gd name="connsiteY38" fmla="*/ 5143439 h 5571067"/>
              <a:gd name="connsiteX39" fmla="*/ 1807880 w 1970939"/>
              <a:gd name="connsiteY39" fmla="*/ 5277830 h 5571067"/>
              <a:gd name="connsiteX40" fmla="*/ 1792726 w 1970939"/>
              <a:gd name="connsiteY40" fmla="*/ 5397087 h 5571067"/>
              <a:gd name="connsiteX41" fmla="*/ 1778362 w 1970939"/>
              <a:gd name="connsiteY41" fmla="*/ 5504843 h 5571067"/>
              <a:gd name="connsiteX42" fmla="*/ 1769613 w 1970939"/>
              <a:gd name="connsiteY42" fmla="*/ 5571067 h 5571067"/>
              <a:gd name="connsiteX43" fmla="*/ 0 w 1970939"/>
              <a:gd name="connsiteY43" fmla="*/ 5571067 h 5571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970939" h="5571067">
                <a:moveTo>
                  <a:pt x="0" y="0"/>
                </a:moveTo>
                <a:lnTo>
                  <a:pt x="1774861" y="0"/>
                </a:lnTo>
                <a:lnTo>
                  <a:pt x="1780256" y="32931"/>
                </a:lnTo>
                <a:lnTo>
                  <a:pt x="1802197" y="170349"/>
                </a:lnTo>
                <a:lnTo>
                  <a:pt x="1820981" y="308372"/>
                </a:lnTo>
                <a:lnTo>
                  <a:pt x="1839923" y="445791"/>
                </a:lnTo>
                <a:lnTo>
                  <a:pt x="1857602" y="583814"/>
                </a:lnTo>
                <a:lnTo>
                  <a:pt x="1872756" y="720022"/>
                </a:lnTo>
                <a:lnTo>
                  <a:pt x="1887120" y="858046"/>
                </a:lnTo>
                <a:lnTo>
                  <a:pt x="1900223" y="995464"/>
                </a:lnTo>
                <a:lnTo>
                  <a:pt x="1911588" y="1130461"/>
                </a:lnTo>
                <a:lnTo>
                  <a:pt x="1922953" y="1267274"/>
                </a:lnTo>
                <a:lnTo>
                  <a:pt x="1932424" y="1402271"/>
                </a:lnTo>
                <a:lnTo>
                  <a:pt x="1939842" y="1537267"/>
                </a:lnTo>
                <a:lnTo>
                  <a:pt x="1947577" y="1671659"/>
                </a:lnTo>
                <a:lnTo>
                  <a:pt x="1954049" y="1804840"/>
                </a:lnTo>
                <a:lnTo>
                  <a:pt x="1958627" y="1936810"/>
                </a:lnTo>
                <a:lnTo>
                  <a:pt x="1962573" y="2068780"/>
                </a:lnTo>
                <a:lnTo>
                  <a:pt x="1966361" y="2199539"/>
                </a:lnTo>
                <a:lnTo>
                  <a:pt x="1968098" y="2328482"/>
                </a:lnTo>
                <a:lnTo>
                  <a:pt x="1969992" y="2457425"/>
                </a:lnTo>
                <a:lnTo>
                  <a:pt x="1970939" y="2584552"/>
                </a:lnTo>
                <a:lnTo>
                  <a:pt x="1969992" y="2710469"/>
                </a:lnTo>
                <a:lnTo>
                  <a:pt x="1969992" y="2835174"/>
                </a:lnTo>
                <a:lnTo>
                  <a:pt x="1968098" y="2958669"/>
                </a:lnTo>
                <a:lnTo>
                  <a:pt x="1965256" y="3079742"/>
                </a:lnTo>
                <a:lnTo>
                  <a:pt x="1962573" y="3199605"/>
                </a:lnTo>
                <a:lnTo>
                  <a:pt x="1959574" y="3317046"/>
                </a:lnTo>
                <a:lnTo>
                  <a:pt x="1954996" y="3433882"/>
                </a:lnTo>
                <a:lnTo>
                  <a:pt x="1950103" y="3548902"/>
                </a:lnTo>
                <a:lnTo>
                  <a:pt x="1945683" y="3661500"/>
                </a:lnTo>
                <a:lnTo>
                  <a:pt x="1933213" y="3881248"/>
                </a:lnTo>
                <a:lnTo>
                  <a:pt x="1919953" y="4091916"/>
                </a:lnTo>
                <a:lnTo>
                  <a:pt x="1906063" y="4294109"/>
                </a:lnTo>
                <a:lnTo>
                  <a:pt x="1890751" y="4485405"/>
                </a:lnTo>
                <a:lnTo>
                  <a:pt x="1874809" y="4668226"/>
                </a:lnTo>
                <a:lnTo>
                  <a:pt x="1857602" y="4837728"/>
                </a:lnTo>
                <a:lnTo>
                  <a:pt x="1840713" y="4996940"/>
                </a:lnTo>
                <a:lnTo>
                  <a:pt x="1823823" y="5143439"/>
                </a:lnTo>
                <a:lnTo>
                  <a:pt x="1807880" y="5277830"/>
                </a:lnTo>
                <a:lnTo>
                  <a:pt x="1792726" y="5397087"/>
                </a:lnTo>
                <a:lnTo>
                  <a:pt x="1778362" y="5504843"/>
                </a:lnTo>
                <a:lnTo>
                  <a:pt x="1769613" y="5571067"/>
                </a:lnTo>
                <a:lnTo>
                  <a:pt x="0" y="5571067"/>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9" name="Freeform: Shape 8">
            <a:extLst>
              <a:ext uri="{FF2B5EF4-FFF2-40B4-BE49-F238E27FC236}">
                <a16:creationId xmlns:a16="http://schemas.microsoft.com/office/drawing/2014/main" id="{0214736A-03B2-4B91-B0AF-B21213F3B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969335" y="1702087"/>
            <a:ext cx="3209207" cy="612850"/>
          </a:xfrm>
          <a:custGeom>
            <a:avLst/>
            <a:gdLst>
              <a:gd name="connsiteX0" fmla="*/ 3195151 w 3209207"/>
              <a:gd name="connsiteY0" fmla="*/ 612847 h 612850"/>
              <a:gd name="connsiteX1" fmla="*/ 3029871 w 3209207"/>
              <a:gd name="connsiteY1" fmla="*/ 611146 h 612850"/>
              <a:gd name="connsiteX2" fmla="*/ 2949639 w 3209207"/>
              <a:gd name="connsiteY2" fmla="*/ 608906 h 612850"/>
              <a:gd name="connsiteX3" fmla="*/ 2978018 w 3209207"/>
              <a:gd name="connsiteY3" fmla="*/ 258115 h 612850"/>
              <a:gd name="connsiteX4" fmla="*/ 2944764 w 3209207"/>
              <a:gd name="connsiteY4" fmla="*/ 260801 h 612850"/>
              <a:gd name="connsiteX5" fmla="*/ 2806036 w 3209207"/>
              <a:gd name="connsiteY5" fmla="*/ 271446 h 612850"/>
              <a:gd name="connsiteX6" fmla="*/ 2666958 w 3209207"/>
              <a:gd name="connsiteY6" fmla="*/ 278917 h 612850"/>
              <a:gd name="connsiteX7" fmla="*/ 2528469 w 3209207"/>
              <a:gd name="connsiteY7" fmla="*/ 286593 h 612850"/>
              <a:gd name="connsiteX8" fmla="*/ 2389479 w 3209207"/>
              <a:gd name="connsiteY8" fmla="*/ 292970 h 612850"/>
              <a:gd name="connsiteX9" fmla="*/ 2252501 w 3209207"/>
              <a:gd name="connsiteY9" fmla="*/ 296993 h 612850"/>
              <a:gd name="connsiteX10" fmla="*/ 2113775 w 3209207"/>
              <a:gd name="connsiteY10" fmla="*/ 300086 h 612850"/>
              <a:gd name="connsiteX11" fmla="*/ 1975755 w 3209207"/>
              <a:gd name="connsiteY11" fmla="*/ 301980 h 612850"/>
              <a:gd name="connsiteX12" fmla="*/ 1840287 w 3209207"/>
              <a:gd name="connsiteY12" fmla="*/ 302348 h 612850"/>
              <a:gd name="connsiteX13" fmla="*/ 1703009 w 3209207"/>
              <a:gd name="connsiteY13" fmla="*/ 302570 h 612850"/>
              <a:gd name="connsiteX14" fmla="*/ 1567693 w 3209207"/>
              <a:gd name="connsiteY14" fmla="*/ 301063 h 612850"/>
              <a:gd name="connsiteX15" fmla="*/ 1432543 w 3209207"/>
              <a:gd name="connsiteY15" fmla="*/ 297523 h 612850"/>
              <a:gd name="connsiteX16" fmla="*/ 1297969 w 3209207"/>
              <a:gd name="connsiteY16" fmla="*/ 294345 h 612850"/>
              <a:gd name="connsiteX17" fmla="*/ 1164703 w 3209207"/>
              <a:gd name="connsiteY17" fmla="*/ 290015 h 612850"/>
              <a:gd name="connsiteX18" fmla="*/ 1032796 w 3209207"/>
              <a:gd name="connsiteY18" fmla="*/ 283907 h 612850"/>
              <a:gd name="connsiteX19" fmla="*/ 900940 w 3209207"/>
              <a:gd name="connsiteY19" fmla="*/ 277172 h 612850"/>
              <a:gd name="connsiteX20" fmla="*/ 770303 w 3209207"/>
              <a:gd name="connsiteY20" fmla="*/ 270380 h 612850"/>
              <a:gd name="connsiteX21" fmla="*/ 641641 w 3209207"/>
              <a:gd name="connsiteY21" fmla="*/ 261702 h 612850"/>
              <a:gd name="connsiteX22" fmla="*/ 512966 w 3209207"/>
              <a:gd name="connsiteY22" fmla="*/ 253180 h 612850"/>
              <a:gd name="connsiteX23" fmla="*/ 386177 w 3209207"/>
              <a:gd name="connsiteY23" fmla="*/ 243867 h 612850"/>
              <a:gd name="connsiteX24" fmla="*/ 260746 w 3209207"/>
              <a:gd name="connsiteY24" fmla="*/ 232775 h 612850"/>
              <a:gd name="connsiteX25" fmla="*/ 136447 w 3209207"/>
              <a:gd name="connsiteY25" fmla="*/ 222719 h 612850"/>
              <a:gd name="connsiteX26" fmla="*/ 13506 w 3209207"/>
              <a:gd name="connsiteY26" fmla="*/ 210885 h 612850"/>
              <a:gd name="connsiteX27" fmla="*/ 0 w 3209207"/>
              <a:gd name="connsiteY27" fmla="*/ 209475 h 612850"/>
              <a:gd name="connsiteX28" fmla="*/ 40844 w 3209207"/>
              <a:gd name="connsiteY28" fmla="*/ 212313 h 612850"/>
              <a:gd name="connsiteX29" fmla="*/ 132211 w 3209207"/>
              <a:gd name="connsiteY29" fmla="*/ 216946 h 612850"/>
              <a:gd name="connsiteX30" fmla="*/ 225585 w 3209207"/>
              <a:gd name="connsiteY30" fmla="*/ 221811 h 612850"/>
              <a:gd name="connsiteX31" fmla="*/ 320298 w 3209207"/>
              <a:gd name="connsiteY31" fmla="*/ 226444 h 612850"/>
              <a:gd name="connsiteX32" fmla="*/ 415680 w 3209207"/>
              <a:gd name="connsiteY32" fmla="*/ 229340 h 612850"/>
              <a:gd name="connsiteX33" fmla="*/ 512735 w 3209207"/>
              <a:gd name="connsiteY33" fmla="*/ 232120 h 612850"/>
              <a:gd name="connsiteX34" fmla="*/ 611464 w 3209207"/>
              <a:gd name="connsiteY34" fmla="*/ 235015 h 612850"/>
              <a:gd name="connsiteX35" fmla="*/ 711532 w 3209207"/>
              <a:gd name="connsiteY35" fmla="*/ 236985 h 612850"/>
              <a:gd name="connsiteX36" fmla="*/ 812604 w 3209207"/>
              <a:gd name="connsiteY36" fmla="*/ 236985 h 612850"/>
              <a:gd name="connsiteX37" fmla="*/ 915014 w 3209207"/>
              <a:gd name="connsiteY37" fmla="*/ 237795 h 612850"/>
              <a:gd name="connsiteX38" fmla="*/ 1018428 w 3209207"/>
              <a:gd name="connsiteY38" fmla="*/ 236985 h 612850"/>
              <a:gd name="connsiteX39" fmla="*/ 1122847 w 3209207"/>
              <a:gd name="connsiteY39" fmla="*/ 235015 h 612850"/>
              <a:gd name="connsiteX40" fmla="*/ 1227600 w 3209207"/>
              <a:gd name="connsiteY40" fmla="*/ 233162 h 612850"/>
              <a:gd name="connsiteX41" fmla="*/ 1333692 w 3209207"/>
              <a:gd name="connsiteY41" fmla="*/ 229340 h 612850"/>
              <a:gd name="connsiteX42" fmla="*/ 1441122 w 3209207"/>
              <a:gd name="connsiteY42" fmla="*/ 225634 h 612850"/>
              <a:gd name="connsiteX43" fmla="*/ 1547883 w 3209207"/>
              <a:gd name="connsiteY43" fmla="*/ 220769 h 612850"/>
              <a:gd name="connsiteX44" fmla="*/ 1655983 w 3209207"/>
              <a:gd name="connsiteY44" fmla="*/ 214282 h 612850"/>
              <a:gd name="connsiteX45" fmla="*/ 1765421 w 3209207"/>
              <a:gd name="connsiteY45" fmla="*/ 206638 h 612850"/>
              <a:gd name="connsiteX46" fmla="*/ 1874860 w 3209207"/>
              <a:gd name="connsiteY46" fmla="*/ 199108 h 612850"/>
              <a:gd name="connsiteX47" fmla="*/ 1984299 w 3209207"/>
              <a:gd name="connsiteY47" fmla="*/ 189495 h 612850"/>
              <a:gd name="connsiteX48" fmla="*/ 2095745 w 3209207"/>
              <a:gd name="connsiteY48" fmla="*/ 178144 h 612850"/>
              <a:gd name="connsiteX49" fmla="*/ 2205184 w 3209207"/>
              <a:gd name="connsiteY49" fmla="*/ 166793 h 612850"/>
              <a:gd name="connsiteX50" fmla="*/ 2316631 w 3209207"/>
              <a:gd name="connsiteY50" fmla="*/ 153472 h 612850"/>
              <a:gd name="connsiteX51" fmla="*/ 2429081 w 3209207"/>
              <a:gd name="connsiteY51" fmla="*/ 139226 h 612850"/>
              <a:gd name="connsiteX52" fmla="*/ 2539523 w 3209207"/>
              <a:gd name="connsiteY52" fmla="*/ 124052 h 612850"/>
              <a:gd name="connsiteX53" fmla="*/ 2651305 w 3209207"/>
              <a:gd name="connsiteY53" fmla="*/ 106215 h 612850"/>
              <a:gd name="connsiteX54" fmla="*/ 2763086 w 3209207"/>
              <a:gd name="connsiteY54" fmla="*/ 87219 h 612850"/>
              <a:gd name="connsiteX55" fmla="*/ 2874867 w 3209207"/>
              <a:gd name="connsiteY55" fmla="*/ 68339 h 612850"/>
              <a:gd name="connsiteX56" fmla="*/ 2986314 w 3209207"/>
              <a:gd name="connsiteY56" fmla="*/ 46331 h 612850"/>
              <a:gd name="connsiteX57" fmla="*/ 3097760 w 3209207"/>
              <a:gd name="connsiteY57" fmla="*/ 23629 h 612850"/>
              <a:gd name="connsiteX58" fmla="*/ 3209207 w 3209207"/>
              <a:gd name="connsiteY58" fmla="*/ 0 h 612850"/>
              <a:gd name="connsiteX59" fmla="*/ 3195151 w 3209207"/>
              <a:gd name="connsiteY59" fmla="*/ 612847 h 612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3209207" h="612850">
                <a:moveTo>
                  <a:pt x="3195151" y="612847"/>
                </a:moveTo>
                <a:cubicBezTo>
                  <a:pt x="3144238" y="612898"/>
                  <a:pt x="3088941" y="612318"/>
                  <a:pt x="3029871" y="611146"/>
                </a:cubicBezTo>
                <a:lnTo>
                  <a:pt x="2949639" y="608906"/>
                </a:lnTo>
                <a:lnTo>
                  <a:pt x="2978018" y="258115"/>
                </a:lnTo>
                <a:lnTo>
                  <a:pt x="2944764" y="260801"/>
                </a:lnTo>
                <a:lnTo>
                  <a:pt x="2806036" y="271446"/>
                </a:lnTo>
                <a:lnTo>
                  <a:pt x="2666958" y="278917"/>
                </a:lnTo>
                <a:lnTo>
                  <a:pt x="2528469" y="286593"/>
                </a:lnTo>
                <a:lnTo>
                  <a:pt x="2389479" y="292970"/>
                </a:lnTo>
                <a:lnTo>
                  <a:pt x="2252501" y="296993"/>
                </a:lnTo>
                <a:lnTo>
                  <a:pt x="2113775" y="300086"/>
                </a:lnTo>
                <a:lnTo>
                  <a:pt x="1975755" y="301980"/>
                </a:lnTo>
                <a:lnTo>
                  <a:pt x="1840287" y="302348"/>
                </a:lnTo>
                <a:lnTo>
                  <a:pt x="1703009" y="302570"/>
                </a:lnTo>
                <a:lnTo>
                  <a:pt x="1567693" y="301063"/>
                </a:lnTo>
                <a:lnTo>
                  <a:pt x="1432543" y="297523"/>
                </a:lnTo>
                <a:lnTo>
                  <a:pt x="1297969" y="294345"/>
                </a:lnTo>
                <a:lnTo>
                  <a:pt x="1164703" y="290015"/>
                </a:lnTo>
                <a:lnTo>
                  <a:pt x="1032796" y="283907"/>
                </a:lnTo>
                <a:lnTo>
                  <a:pt x="900940" y="277172"/>
                </a:lnTo>
                <a:lnTo>
                  <a:pt x="770303" y="270380"/>
                </a:lnTo>
                <a:lnTo>
                  <a:pt x="641641" y="261702"/>
                </a:lnTo>
                <a:lnTo>
                  <a:pt x="512966" y="253180"/>
                </a:lnTo>
                <a:lnTo>
                  <a:pt x="386177" y="243867"/>
                </a:lnTo>
                <a:lnTo>
                  <a:pt x="260746" y="232775"/>
                </a:lnTo>
                <a:lnTo>
                  <a:pt x="136447" y="222719"/>
                </a:lnTo>
                <a:lnTo>
                  <a:pt x="13506" y="210885"/>
                </a:lnTo>
                <a:lnTo>
                  <a:pt x="0" y="209475"/>
                </a:lnTo>
                <a:lnTo>
                  <a:pt x="40844" y="212313"/>
                </a:lnTo>
                <a:lnTo>
                  <a:pt x="132211" y="216946"/>
                </a:lnTo>
                <a:lnTo>
                  <a:pt x="225585" y="221811"/>
                </a:lnTo>
                <a:lnTo>
                  <a:pt x="320298" y="226444"/>
                </a:lnTo>
                <a:lnTo>
                  <a:pt x="415680" y="229340"/>
                </a:lnTo>
                <a:lnTo>
                  <a:pt x="512735" y="232120"/>
                </a:lnTo>
                <a:lnTo>
                  <a:pt x="611464" y="235015"/>
                </a:lnTo>
                <a:lnTo>
                  <a:pt x="711532" y="236985"/>
                </a:lnTo>
                <a:lnTo>
                  <a:pt x="812604" y="236985"/>
                </a:lnTo>
                <a:lnTo>
                  <a:pt x="915014" y="237795"/>
                </a:lnTo>
                <a:lnTo>
                  <a:pt x="1018428" y="236985"/>
                </a:lnTo>
                <a:lnTo>
                  <a:pt x="1122847" y="235015"/>
                </a:lnTo>
                <a:lnTo>
                  <a:pt x="1227600" y="233162"/>
                </a:lnTo>
                <a:lnTo>
                  <a:pt x="1333692" y="229340"/>
                </a:lnTo>
                <a:lnTo>
                  <a:pt x="1441122" y="225634"/>
                </a:lnTo>
                <a:lnTo>
                  <a:pt x="1547883" y="220769"/>
                </a:lnTo>
                <a:lnTo>
                  <a:pt x="1655983" y="214282"/>
                </a:lnTo>
                <a:lnTo>
                  <a:pt x="1765421" y="206638"/>
                </a:lnTo>
                <a:lnTo>
                  <a:pt x="1874860" y="199108"/>
                </a:lnTo>
                <a:lnTo>
                  <a:pt x="1984299" y="189495"/>
                </a:lnTo>
                <a:lnTo>
                  <a:pt x="2095745" y="178144"/>
                </a:lnTo>
                <a:lnTo>
                  <a:pt x="2205184" y="166793"/>
                </a:lnTo>
                <a:lnTo>
                  <a:pt x="2316631" y="153472"/>
                </a:lnTo>
                <a:lnTo>
                  <a:pt x="2429081" y="139226"/>
                </a:lnTo>
                <a:lnTo>
                  <a:pt x="2539523" y="124052"/>
                </a:lnTo>
                <a:lnTo>
                  <a:pt x="2651305" y="106215"/>
                </a:lnTo>
                <a:lnTo>
                  <a:pt x="2763086" y="87219"/>
                </a:lnTo>
                <a:lnTo>
                  <a:pt x="2874867" y="68339"/>
                </a:lnTo>
                <a:lnTo>
                  <a:pt x="2986314" y="46331"/>
                </a:lnTo>
                <a:lnTo>
                  <a:pt x="3097760" y="23629"/>
                </a:lnTo>
                <a:lnTo>
                  <a:pt x="3209207" y="0"/>
                </a:lnTo>
                <a:cubicBezTo>
                  <a:pt x="3198832" y="386055"/>
                  <a:pt x="3205525" y="226792"/>
                  <a:pt x="3195151" y="612847"/>
                </a:cubicBezTo>
                <a:close/>
              </a:path>
            </a:pathLst>
          </a:custGeom>
          <a:solidFill>
            <a:schemeClr val="bg1">
              <a:alpha val="20000"/>
            </a:schemeClr>
          </a:solidFill>
          <a:ln>
            <a:noFill/>
          </a:ln>
        </p:spPr>
        <p:txBody>
          <a:bodyPr wrap="square">
            <a:noAutofit/>
          </a:bodyPr>
          <a:lstStyle/>
          <a:p>
            <a:endParaRPr lang="en-US" dirty="0"/>
          </a:p>
        </p:txBody>
      </p:sp>
      <p:pic>
        <p:nvPicPr>
          <p:cNvPr id="5" name="Picture 4">
            <a:extLst>
              <a:ext uri="{FF2B5EF4-FFF2-40B4-BE49-F238E27FC236}">
                <a16:creationId xmlns:a16="http://schemas.microsoft.com/office/drawing/2014/main" id="{D601227E-AF5D-6F85-5181-AB6D4E3E060B}"/>
              </a:ext>
            </a:extLst>
          </p:cNvPr>
          <p:cNvPicPr>
            <a:picLocks noChangeAspect="1"/>
          </p:cNvPicPr>
          <p:nvPr/>
        </p:nvPicPr>
        <p:blipFill>
          <a:blip r:embed="rId2"/>
          <a:stretch>
            <a:fillRect/>
          </a:stretch>
        </p:blipFill>
        <p:spPr>
          <a:xfrm>
            <a:off x="3818356" y="643466"/>
            <a:ext cx="6920580" cy="5571067"/>
          </a:xfrm>
          <a:prstGeom prst="rect">
            <a:avLst/>
          </a:prstGeom>
        </p:spPr>
      </p:pic>
    </p:spTree>
    <p:extLst>
      <p:ext uri="{BB962C8B-B14F-4D97-AF65-F5344CB8AC3E}">
        <p14:creationId xmlns:p14="http://schemas.microsoft.com/office/powerpoint/2010/main" val="2903649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87F9E-2EEB-2C7A-ECB8-6BDCFD151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BAD5-AF51-4194-74F5-FC223A13DDD4}"/>
              </a:ext>
            </a:extLst>
          </p:cNvPr>
          <p:cNvSpPr>
            <a:spLocks noGrp="1"/>
          </p:cNvSpPr>
          <p:nvPr>
            <p:ph type="ctrTitle"/>
          </p:nvPr>
        </p:nvSpPr>
        <p:spPr/>
        <p:txBody>
          <a:bodyPr/>
          <a:lstStyle/>
          <a:p>
            <a:r>
              <a:rPr lang="en-GB" dirty="0"/>
              <a:t>Deep learning Model</a:t>
            </a:r>
          </a:p>
        </p:txBody>
      </p:sp>
      <p:sp>
        <p:nvSpPr>
          <p:cNvPr id="3" name="Subtitle 2">
            <a:extLst>
              <a:ext uri="{FF2B5EF4-FFF2-40B4-BE49-F238E27FC236}">
                <a16:creationId xmlns:a16="http://schemas.microsoft.com/office/drawing/2014/main" id="{56E3CEA7-A99F-55FC-E4F7-691A2AEBBD81}"/>
              </a:ext>
            </a:extLst>
          </p:cNvPr>
          <p:cNvSpPr>
            <a:spLocks noGrp="1"/>
          </p:cNvSpPr>
          <p:nvPr>
            <p:ph type="subTitle" idx="1"/>
          </p:nvPr>
        </p:nvSpPr>
        <p:spPr/>
        <p:txBody>
          <a:bodyPr>
            <a:normAutofit/>
          </a:bodyPr>
          <a:lstStyle/>
          <a:p>
            <a:r>
              <a:rPr lang="en-GB" dirty="0"/>
              <a:t>Neural collaborative filtering architecture (NCF)</a:t>
            </a:r>
          </a:p>
        </p:txBody>
      </p:sp>
    </p:spTree>
    <p:extLst>
      <p:ext uri="{BB962C8B-B14F-4D97-AF65-F5344CB8AC3E}">
        <p14:creationId xmlns:p14="http://schemas.microsoft.com/office/powerpoint/2010/main" val="1302767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5023A0A-F8C4-3A09-C844-7734F4EEC876}"/>
            </a:ext>
          </a:extLst>
        </p:cNvPr>
        <p:cNvGrpSpPr/>
        <p:nvPr/>
      </p:nvGrpSpPr>
      <p:grpSpPr>
        <a:xfrm>
          <a:off x="0" y="0"/>
          <a:ext cx="0" cy="0"/>
          <a:chOff x="0" y="0"/>
          <a:chExt cx="0" cy="0"/>
        </a:xfrm>
      </p:grpSpPr>
      <p:grpSp>
        <p:nvGrpSpPr>
          <p:cNvPr id="32" name="Group 31">
            <a:extLst>
              <a:ext uri="{FF2B5EF4-FFF2-40B4-BE49-F238E27FC236}">
                <a16:creationId xmlns:a16="http://schemas.microsoft.com/office/drawing/2014/main" id="{E5D4A15D-C852-47D7-A7E3-7F8FEE9FCA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3" name="Rectangle 32">
              <a:extLst>
                <a:ext uri="{FF2B5EF4-FFF2-40B4-BE49-F238E27FC236}">
                  <a16:creationId xmlns:a16="http://schemas.microsoft.com/office/drawing/2014/main" id="{C06AA6A2-9E5B-46E6-82B0-8FC1CA7231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34" name="Oval 33">
              <a:extLst>
                <a:ext uri="{FF2B5EF4-FFF2-40B4-BE49-F238E27FC236}">
                  <a16:creationId xmlns:a16="http://schemas.microsoft.com/office/drawing/2014/main" id="{11E7C01A-5F5B-4E17-B91B-26FA9ADB54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45" name="Oval 44">
              <a:extLst>
                <a:ext uri="{FF2B5EF4-FFF2-40B4-BE49-F238E27FC236}">
                  <a16:creationId xmlns:a16="http://schemas.microsoft.com/office/drawing/2014/main" id="{71DA43BF-6FE1-458D-A112-1687677B00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47" name="Oval 46">
              <a:extLst>
                <a:ext uri="{FF2B5EF4-FFF2-40B4-BE49-F238E27FC236}">
                  <a16:creationId xmlns:a16="http://schemas.microsoft.com/office/drawing/2014/main" id="{FAA5FF03-83FF-43B9-B66B-5FD05A9589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1" name="Oval 50">
              <a:extLst>
                <a:ext uri="{FF2B5EF4-FFF2-40B4-BE49-F238E27FC236}">
                  <a16:creationId xmlns:a16="http://schemas.microsoft.com/office/drawing/2014/main" id="{BC4D7AA7-0424-4C72-AE55-4B413DD471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3" name="Oval 52">
              <a:extLst>
                <a:ext uri="{FF2B5EF4-FFF2-40B4-BE49-F238E27FC236}">
                  <a16:creationId xmlns:a16="http://schemas.microsoft.com/office/drawing/2014/main" id="{BC2D80F1-5DC4-4396-B0E1-C774E82EC7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4" name="Freeform 5">
              <a:extLst>
                <a:ext uri="{FF2B5EF4-FFF2-40B4-BE49-F238E27FC236}">
                  <a16:creationId xmlns:a16="http://schemas.microsoft.com/office/drawing/2014/main" id="{48171057-920A-4188-A18E-97D710A35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55" name="Freeform 5">
              <a:extLst>
                <a:ext uri="{FF2B5EF4-FFF2-40B4-BE49-F238E27FC236}">
                  <a16:creationId xmlns:a16="http://schemas.microsoft.com/office/drawing/2014/main" id="{1C871B74-1D69-47F0-A28D-8F3454779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dirty="0"/>
            </a:p>
          </p:txBody>
        </p:sp>
        <p:sp>
          <p:nvSpPr>
            <p:cNvPr id="56" name="Freeform 5">
              <a:extLst>
                <a:ext uri="{FF2B5EF4-FFF2-40B4-BE49-F238E27FC236}">
                  <a16:creationId xmlns:a16="http://schemas.microsoft.com/office/drawing/2014/main" id="{63001BDC-368C-49CC-9F3F-EAF38A0A49E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57" name="Rectangle 56">
            <a:extLst>
              <a:ext uri="{FF2B5EF4-FFF2-40B4-BE49-F238E27FC236}">
                <a16:creationId xmlns:a16="http://schemas.microsoft.com/office/drawing/2014/main" id="{6288FC2F-B192-42B2-90BE-517E1039BE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grpSp>
        <p:nvGrpSpPr>
          <p:cNvPr id="58" name="Group 57">
            <a:extLst>
              <a:ext uri="{FF2B5EF4-FFF2-40B4-BE49-F238E27FC236}">
                <a16:creationId xmlns:a16="http://schemas.microsoft.com/office/drawing/2014/main" id="{2F448CB3-7B4F-45D7-B7C0-DF553DF6145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59" name="Rectangle 58">
              <a:extLst>
                <a:ext uri="{FF2B5EF4-FFF2-40B4-BE49-F238E27FC236}">
                  <a16:creationId xmlns:a16="http://schemas.microsoft.com/office/drawing/2014/main" id="{5C5305EA-7A88-413D-BE8A-47A02476F0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60" name="Freeform 5">
              <a:extLst>
                <a:ext uri="{FF2B5EF4-FFF2-40B4-BE49-F238E27FC236}">
                  <a16:creationId xmlns:a16="http://schemas.microsoft.com/office/drawing/2014/main" id="{FCA94DB5-FE56-4A3D-BC48-31B5595197F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rgbClr val="FFFFFF"/>
            </a:solidFill>
            <a:ln>
              <a:noFill/>
            </a:ln>
          </p:spPr>
          <p:txBody>
            <a:bodyPr/>
            <a:lstStyle/>
            <a:p>
              <a:endParaRPr lang="en-GB" dirty="0"/>
            </a:p>
          </p:txBody>
        </p:sp>
      </p:grpSp>
      <p:sp>
        <p:nvSpPr>
          <p:cNvPr id="2" name="TextBox 1">
            <a:extLst>
              <a:ext uri="{FF2B5EF4-FFF2-40B4-BE49-F238E27FC236}">
                <a16:creationId xmlns:a16="http://schemas.microsoft.com/office/drawing/2014/main" id="{D7584541-5616-6739-7FA6-A14DA1C56F15}"/>
              </a:ext>
            </a:extLst>
          </p:cNvPr>
          <p:cNvSpPr txBox="1"/>
          <p:nvPr/>
        </p:nvSpPr>
        <p:spPr>
          <a:xfrm>
            <a:off x="1154954" y="973668"/>
            <a:ext cx="8761413" cy="706964"/>
          </a:xfrm>
          <a:prstGeom prst="rect">
            <a:avLst/>
          </a:prstGeom>
        </p:spPr>
        <p:txBody>
          <a:bodyPr vert="horz" lIns="91440" tIns="45720" rIns="91440" bIns="45720" rtlCol="0" anchor="ctr">
            <a:normAutofit/>
          </a:bodyPr>
          <a:lstStyle/>
          <a:p>
            <a:pPr>
              <a:spcBef>
                <a:spcPct val="0"/>
              </a:spcBef>
              <a:spcAft>
                <a:spcPts val="600"/>
              </a:spcAft>
            </a:pPr>
            <a:r>
              <a:rPr lang="en-US" sz="3600" dirty="0">
                <a:solidFill>
                  <a:srgbClr val="FFFFFF"/>
                </a:solidFill>
                <a:latin typeface="+mj-lt"/>
                <a:ea typeface="+mj-ea"/>
                <a:cs typeface="+mj-cs"/>
              </a:rPr>
              <a:t>Building and Training the NCF model</a:t>
            </a:r>
          </a:p>
        </p:txBody>
      </p:sp>
      <p:sp>
        <p:nvSpPr>
          <p:cNvPr id="61" name="Rectangle 60">
            <a:extLst>
              <a:ext uri="{FF2B5EF4-FFF2-40B4-BE49-F238E27FC236}">
                <a16:creationId xmlns:a16="http://schemas.microsoft.com/office/drawing/2014/main" id="{F9ED434F-8767-46CC-B26B-5AF62FF01E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graphicFrame>
        <p:nvGraphicFramePr>
          <p:cNvPr id="62" name="TextBox 2">
            <a:extLst>
              <a:ext uri="{FF2B5EF4-FFF2-40B4-BE49-F238E27FC236}">
                <a16:creationId xmlns:a16="http://schemas.microsoft.com/office/drawing/2014/main" id="{40F465F6-A834-D1BC-B691-A12B79505A9A}"/>
              </a:ext>
            </a:extLst>
          </p:cNvPr>
          <p:cNvGraphicFramePr/>
          <p:nvPr>
            <p:extLst>
              <p:ext uri="{D42A27DB-BD31-4B8C-83A1-F6EECF244321}">
                <p14:modId xmlns:p14="http://schemas.microsoft.com/office/powerpoint/2010/main" val="1442742593"/>
              </p:ext>
            </p:extLst>
          </p:nvPr>
        </p:nvGraphicFramePr>
        <p:xfrm>
          <a:off x="1286934" y="2324100"/>
          <a:ext cx="9625383" cy="342268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93118363"/>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26CD6DF-E40F-4D39-BA46-5D099AC4C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89ACF3A-42A9-E0BD-C62E-4BD308D009FA}"/>
              </a:ext>
            </a:extLst>
          </p:cNvPr>
          <p:cNvPicPr>
            <a:picLocks noChangeAspect="1"/>
          </p:cNvPicPr>
          <p:nvPr/>
        </p:nvPicPr>
        <p:blipFill>
          <a:blip r:embed="rId3"/>
          <a:stretch>
            <a:fillRect/>
          </a:stretch>
        </p:blipFill>
        <p:spPr>
          <a:xfrm>
            <a:off x="3001112" y="643467"/>
            <a:ext cx="6189775" cy="4085251"/>
          </a:xfrm>
          <a:prstGeom prst="rect">
            <a:avLst/>
          </a:prstGeom>
        </p:spPr>
      </p:pic>
      <p:sp>
        <p:nvSpPr>
          <p:cNvPr id="19" name="Freeform: Shape 18">
            <a:extLst>
              <a:ext uri="{FF2B5EF4-FFF2-40B4-BE49-F238E27FC236}">
                <a16:creationId xmlns:a16="http://schemas.microsoft.com/office/drawing/2014/main" id="{E848A24A-E17D-464F-99FB-EF7B8EC07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4928325"/>
            <a:ext cx="10905067" cy="1286209"/>
          </a:xfrm>
          <a:custGeom>
            <a:avLst/>
            <a:gdLst>
              <a:gd name="connsiteX0" fmla="*/ 5080191 w 10905067"/>
              <a:gd name="connsiteY0" fmla="*/ 0 h 1286209"/>
              <a:gd name="connsiteX1" fmla="*/ 5315140 w 10905067"/>
              <a:gd name="connsiteY1" fmla="*/ 1588 h 1286209"/>
              <a:gd name="connsiteX2" fmla="*/ 5546915 w 10905067"/>
              <a:gd name="connsiteY2" fmla="*/ 1588 h 1286209"/>
              <a:gd name="connsiteX3" fmla="*/ 5777103 w 10905067"/>
              <a:gd name="connsiteY3" fmla="*/ 4763 h 1286209"/>
              <a:gd name="connsiteX4" fmla="*/ 6002528 w 10905067"/>
              <a:gd name="connsiteY4" fmla="*/ 9525 h 1286209"/>
              <a:gd name="connsiteX5" fmla="*/ 6226365 w 10905067"/>
              <a:gd name="connsiteY5" fmla="*/ 14288 h 1286209"/>
              <a:gd name="connsiteX6" fmla="*/ 6445440 w 10905067"/>
              <a:gd name="connsiteY6" fmla="*/ 19050 h 1286209"/>
              <a:gd name="connsiteX7" fmla="*/ 6662928 w 10905067"/>
              <a:gd name="connsiteY7" fmla="*/ 26988 h 1286209"/>
              <a:gd name="connsiteX8" fmla="*/ 6877240 w 10905067"/>
              <a:gd name="connsiteY8" fmla="*/ 34925 h 1286209"/>
              <a:gd name="connsiteX9" fmla="*/ 7086790 w 10905067"/>
              <a:gd name="connsiteY9" fmla="*/ 42863 h 1286209"/>
              <a:gd name="connsiteX10" fmla="*/ 7496365 w 10905067"/>
              <a:gd name="connsiteY10" fmla="*/ 63500 h 1286209"/>
              <a:gd name="connsiteX11" fmla="*/ 7888478 w 10905067"/>
              <a:gd name="connsiteY11" fmla="*/ 85725 h 1286209"/>
              <a:gd name="connsiteX12" fmla="*/ 8264715 w 10905067"/>
              <a:gd name="connsiteY12" fmla="*/ 109538 h 1286209"/>
              <a:gd name="connsiteX13" fmla="*/ 8621902 w 10905067"/>
              <a:gd name="connsiteY13" fmla="*/ 134938 h 1286209"/>
              <a:gd name="connsiteX14" fmla="*/ 8961628 w 10905067"/>
              <a:gd name="connsiteY14" fmla="*/ 161925 h 1286209"/>
              <a:gd name="connsiteX15" fmla="*/ 9277540 w 10905067"/>
              <a:gd name="connsiteY15" fmla="*/ 190500 h 1286209"/>
              <a:gd name="connsiteX16" fmla="*/ 9574402 w 10905067"/>
              <a:gd name="connsiteY16" fmla="*/ 219075 h 1286209"/>
              <a:gd name="connsiteX17" fmla="*/ 9847452 w 10905067"/>
              <a:gd name="connsiteY17" fmla="*/ 247650 h 1286209"/>
              <a:gd name="connsiteX18" fmla="*/ 10098278 w 10905067"/>
              <a:gd name="connsiteY18" fmla="*/ 274638 h 1286209"/>
              <a:gd name="connsiteX19" fmla="*/ 10320528 w 10905067"/>
              <a:gd name="connsiteY19" fmla="*/ 300038 h 1286209"/>
              <a:gd name="connsiteX20" fmla="*/ 10520552 w 10905067"/>
              <a:gd name="connsiteY20" fmla="*/ 323850 h 1286209"/>
              <a:gd name="connsiteX21" fmla="*/ 10690415 w 10905067"/>
              <a:gd name="connsiteY21" fmla="*/ 344488 h 1286209"/>
              <a:gd name="connsiteX22" fmla="*/ 10831702 w 10905067"/>
              <a:gd name="connsiteY22" fmla="*/ 363538 h 1286209"/>
              <a:gd name="connsiteX23" fmla="*/ 10905067 w 10905067"/>
              <a:gd name="connsiteY23" fmla="*/ 373678 h 1286209"/>
              <a:gd name="connsiteX24" fmla="*/ 10905067 w 10905067"/>
              <a:gd name="connsiteY24" fmla="*/ 1286209 h 1286209"/>
              <a:gd name="connsiteX25" fmla="*/ 0 w 10905067"/>
              <a:gd name="connsiteY25" fmla="*/ 1286209 h 1286209"/>
              <a:gd name="connsiteX26" fmla="*/ 0 w 10905067"/>
              <a:gd name="connsiteY26" fmla="*/ 369898 h 1286209"/>
              <a:gd name="connsiteX27" fmla="*/ 71628 w 10905067"/>
              <a:gd name="connsiteY27" fmla="*/ 358775 h 1286209"/>
              <a:gd name="connsiteX28" fmla="*/ 327215 w 10905067"/>
              <a:gd name="connsiteY28" fmla="*/ 320675 h 1286209"/>
              <a:gd name="connsiteX29" fmla="*/ 582802 w 10905067"/>
              <a:gd name="connsiteY29" fmla="*/ 284163 h 1286209"/>
              <a:gd name="connsiteX30" fmla="*/ 839978 w 10905067"/>
              <a:gd name="connsiteY30" fmla="*/ 252413 h 1286209"/>
              <a:gd name="connsiteX31" fmla="*/ 1095565 w 10905067"/>
              <a:gd name="connsiteY31" fmla="*/ 220663 h 1286209"/>
              <a:gd name="connsiteX32" fmla="*/ 1352740 w 10905067"/>
              <a:gd name="connsiteY32" fmla="*/ 190500 h 1286209"/>
              <a:gd name="connsiteX33" fmla="*/ 1606740 w 10905067"/>
              <a:gd name="connsiteY33" fmla="*/ 165100 h 1286209"/>
              <a:gd name="connsiteX34" fmla="*/ 1863915 w 10905067"/>
              <a:gd name="connsiteY34" fmla="*/ 141288 h 1286209"/>
              <a:gd name="connsiteX35" fmla="*/ 2119502 w 10905067"/>
              <a:gd name="connsiteY35" fmla="*/ 119063 h 1286209"/>
              <a:gd name="connsiteX36" fmla="*/ 2371915 w 10905067"/>
              <a:gd name="connsiteY36" fmla="*/ 100013 h 1286209"/>
              <a:gd name="connsiteX37" fmla="*/ 2625915 w 10905067"/>
              <a:gd name="connsiteY37" fmla="*/ 80963 h 1286209"/>
              <a:gd name="connsiteX38" fmla="*/ 2878328 w 10905067"/>
              <a:gd name="connsiteY38" fmla="*/ 65088 h 1286209"/>
              <a:gd name="connsiteX39" fmla="*/ 3129153 w 10905067"/>
              <a:gd name="connsiteY39" fmla="*/ 52388 h 1286209"/>
              <a:gd name="connsiteX40" fmla="*/ 3379978 w 10905067"/>
              <a:gd name="connsiteY40" fmla="*/ 39688 h 1286209"/>
              <a:gd name="connsiteX41" fmla="*/ 3627628 w 10905067"/>
              <a:gd name="connsiteY41" fmla="*/ 28575 h 1286209"/>
              <a:gd name="connsiteX42" fmla="*/ 3873690 w 10905067"/>
              <a:gd name="connsiteY42" fmla="*/ 20638 h 1286209"/>
              <a:gd name="connsiteX43" fmla="*/ 4119754 w 10905067"/>
              <a:gd name="connsiteY43" fmla="*/ 14288 h 1286209"/>
              <a:gd name="connsiteX44" fmla="*/ 4362640 w 10905067"/>
              <a:gd name="connsiteY44" fmla="*/ 7938 h 1286209"/>
              <a:gd name="connsiteX45" fmla="*/ 4603941 w 10905067"/>
              <a:gd name="connsiteY45" fmla="*/ 4763 h 1286209"/>
              <a:gd name="connsiteX46" fmla="*/ 4843653 w 10905067"/>
              <a:gd name="connsiteY46" fmla="*/ 1588 h 12862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0905067" h="1286209">
                <a:moveTo>
                  <a:pt x="5080191" y="0"/>
                </a:moveTo>
                <a:lnTo>
                  <a:pt x="5315140" y="1588"/>
                </a:lnTo>
                <a:lnTo>
                  <a:pt x="5546915" y="1588"/>
                </a:lnTo>
                <a:lnTo>
                  <a:pt x="5777103" y="4763"/>
                </a:lnTo>
                <a:lnTo>
                  <a:pt x="6002528" y="9525"/>
                </a:lnTo>
                <a:lnTo>
                  <a:pt x="6226365" y="14288"/>
                </a:lnTo>
                <a:lnTo>
                  <a:pt x="6445440" y="19050"/>
                </a:lnTo>
                <a:lnTo>
                  <a:pt x="6662928" y="26988"/>
                </a:lnTo>
                <a:lnTo>
                  <a:pt x="6877240" y="34925"/>
                </a:lnTo>
                <a:lnTo>
                  <a:pt x="7086790" y="42863"/>
                </a:lnTo>
                <a:lnTo>
                  <a:pt x="7496365" y="63500"/>
                </a:lnTo>
                <a:lnTo>
                  <a:pt x="7888478" y="85725"/>
                </a:lnTo>
                <a:lnTo>
                  <a:pt x="8264715" y="109538"/>
                </a:lnTo>
                <a:lnTo>
                  <a:pt x="8621902" y="134938"/>
                </a:lnTo>
                <a:lnTo>
                  <a:pt x="8961628" y="161925"/>
                </a:lnTo>
                <a:lnTo>
                  <a:pt x="9277540" y="190500"/>
                </a:lnTo>
                <a:lnTo>
                  <a:pt x="9574402" y="219075"/>
                </a:lnTo>
                <a:lnTo>
                  <a:pt x="9847452" y="247650"/>
                </a:lnTo>
                <a:lnTo>
                  <a:pt x="10098278" y="274638"/>
                </a:lnTo>
                <a:lnTo>
                  <a:pt x="10320528" y="300038"/>
                </a:lnTo>
                <a:lnTo>
                  <a:pt x="10520552" y="323850"/>
                </a:lnTo>
                <a:lnTo>
                  <a:pt x="10690415" y="344488"/>
                </a:lnTo>
                <a:lnTo>
                  <a:pt x="10831702" y="363538"/>
                </a:lnTo>
                <a:lnTo>
                  <a:pt x="10905067" y="373678"/>
                </a:lnTo>
                <a:lnTo>
                  <a:pt x="10905067" y="1286209"/>
                </a:lnTo>
                <a:lnTo>
                  <a:pt x="0" y="1286209"/>
                </a:lnTo>
                <a:lnTo>
                  <a:pt x="0" y="369898"/>
                </a:lnTo>
                <a:lnTo>
                  <a:pt x="71628" y="358775"/>
                </a:lnTo>
                <a:lnTo>
                  <a:pt x="327215" y="320675"/>
                </a:lnTo>
                <a:lnTo>
                  <a:pt x="582802" y="284163"/>
                </a:lnTo>
                <a:lnTo>
                  <a:pt x="839978" y="252413"/>
                </a:lnTo>
                <a:lnTo>
                  <a:pt x="1095565" y="220663"/>
                </a:lnTo>
                <a:lnTo>
                  <a:pt x="1352740" y="190500"/>
                </a:lnTo>
                <a:lnTo>
                  <a:pt x="1606740" y="165100"/>
                </a:lnTo>
                <a:lnTo>
                  <a:pt x="1863915" y="141288"/>
                </a:lnTo>
                <a:lnTo>
                  <a:pt x="2119502" y="119063"/>
                </a:lnTo>
                <a:lnTo>
                  <a:pt x="2371915" y="100013"/>
                </a:lnTo>
                <a:lnTo>
                  <a:pt x="2625915" y="80963"/>
                </a:lnTo>
                <a:lnTo>
                  <a:pt x="2878328" y="65088"/>
                </a:lnTo>
                <a:lnTo>
                  <a:pt x="3129153" y="52388"/>
                </a:lnTo>
                <a:lnTo>
                  <a:pt x="3379978" y="39688"/>
                </a:lnTo>
                <a:lnTo>
                  <a:pt x="3627628" y="28575"/>
                </a:lnTo>
                <a:lnTo>
                  <a:pt x="3873690" y="20638"/>
                </a:lnTo>
                <a:lnTo>
                  <a:pt x="4119754" y="14288"/>
                </a:lnTo>
                <a:lnTo>
                  <a:pt x="4362640" y="7938"/>
                </a:lnTo>
                <a:lnTo>
                  <a:pt x="4603941" y="4763"/>
                </a:lnTo>
                <a:lnTo>
                  <a:pt x="4843653" y="1588"/>
                </a:lnTo>
                <a:close/>
              </a:path>
            </a:pathLst>
          </a:custGeom>
          <a:ln>
            <a:noFill/>
          </a:ln>
        </p:spPr>
        <p:style>
          <a:lnRef idx="2">
            <a:schemeClr val="accent1">
              <a:shade val="50000"/>
            </a:schemeClr>
          </a:lnRef>
          <a:fillRef idx="1002">
            <a:schemeClr val="dk2"/>
          </a:fillRef>
          <a:effectRef idx="0">
            <a:schemeClr val="accent1"/>
          </a:effectRef>
          <a:fontRef idx="minor">
            <a:schemeClr val="lt1"/>
          </a:fontRef>
        </p:style>
        <p:txBody>
          <a:bodyPr wrap="square">
            <a:noAutofit/>
          </a:bodyPr>
          <a:lstStyle/>
          <a:p>
            <a:endParaRPr lang="en-US" dirty="0"/>
          </a:p>
        </p:txBody>
      </p:sp>
      <p:sp>
        <p:nvSpPr>
          <p:cNvPr id="21" name="Freeform: Shape 20">
            <a:extLst>
              <a:ext uri="{FF2B5EF4-FFF2-40B4-BE49-F238E27FC236}">
                <a16:creationId xmlns:a16="http://schemas.microsoft.com/office/drawing/2014/main" id="{CD3DDA28-7B69-422D-9888-25C7BC97BC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0371525">
            <a:off x="264773" y="4915968"/>
            <a:ext cx="3039999" cy="440926"/>
          </a:xfrm>
          <a:custGeom>
            <a:avLst/>
            <a:gdLst>
              <a:gd name="connsiteX0" fmla="*/ 0 w 3039999"/>
              <a:gd name="connsiteY0" fmla="*/ 155844 h 440926"/>
              <a:gd name="connsiteX1" fmla="*/ 6524 w 3039999"/>
              <a:gd name="connsiteY1" fmla="*/ 156086 h 440926"/>
              <a:gd name="connsiteX2" fmla="*/ 98577 w 3039999"/>
              <a:gd name="connsiteY2" fmla="*/ 159586 h 440926"/>
              <a:gd name="connsiteX3" fmla="*/ 191951 w 3039999"/>
              <a:gd name="connsiteY3" fmla="*/ 162919 h 440926"/>
              <a:gd name="connsiteX4" fmla="*/ 285984 w 3039999"/>
              <a:gd name="connsiteY4" fmla="*/ 165003 h 440926"/>
              <a:gd name="connsiteX5" fmla="*/ 381667 w 3039999"/>
              <a:gd name="connsiteY5" fmla="*/ 167003 h 440926"/>
              <a:gd name="connsiteX6" fmla="*/ 478999 w 3039999"/>
              <a:gd name="connsiteY6" fmla="*/ 169086 h 440926"/>
              <a:gd name="connsiteX7" fmla="*/ 577652 w 3039999"/>
              <a:gd name="connsiteY7" fmla="*/ 170503 h 440926"/>
              <a:gd name="connsiteX8" fmla="*/ 677293 w 3039999"/>
              <a:gd name="connsiteY8" fmla="*/ 170503 h 440926"/>
              <a:gd name="connsiteX9" fmla="*/ 778255 w 3039999"/>
              <a:gd name="connsiteY9" fmla="*/ 171086 h 440926"/>
              <a:gd name="connsiteX10" fmla="*/ 880207 w 3039999"/>
              <a:gd name="connsiteY10" fmla="*/ 170503 h 440926"/>
              <a:gd name="connsiteX11" fmla="*/ 983149 w 3039999"/>
              <a:gd name="connsiteY11" fmla="*/ 169086 h 440926"/>
              <a:gd name="connsiteX12" fmla="*/ 1086420 w 3039999"/>
              <a:gd name="connsiteY12" fmla="*/ 167753 h 440926"/>
              <a:gd name="connsiteX13" fmla="*/ 1191011 w 3039999"/>
              <a:gd name="connsiteY13" fmla="*/ 165003 h 440926"/>
              <a:gd name="connsiteX14" fmla="*/ 1296922 w 3039999"/>
              <a:gd name="connsiteY14" fmla="*/ 162336 h 440926"/>
              <a:gd name="connsiteX15" fmla="*/ 1402173 w 3039999"/>
              <a:gd name="connsiteY15" fmla="*/ 158836 h 440926"/>
              <a:gd name="connsiteX16" fmla="*/ 1508744 w 3039999"/>
              <a:gd name="connsiteY16" fmla="*/ 154169 h 440926"/>
              <a:gd name="connsiteX17" fmla="*/ 1616635 w 3039999"/>
              <a:gd name="connsiteY17" fmla="*/ 148669 h 440926"/>
              <a:gd name="connsiteX18" fmla="*/ 1724525 w 3039999"/>
              <a:gd name="connsiteY18" fmla="*/ 143252 h 440926"/>
              <a:gd name="connsiteX19" fmla="*/ 1832416 w 3039999"/>
              <a:gd name="connsiteY19" fmla="*/ 136335 h 440926"/>
              <a:gd name="connsiteX20" fmla="*/ 1942286 w 3039999"/>
              <a:gd name="connsiteY20" fmla="*/ 128169 h 440926"/>
              <a:gd name="connsiteX21" fmla="*/ 2050177 w 3039999"/>
              <a:gd name="connsiteY21" fmla="*/ 120002 h 440926"/>
              <a:gd name="connsiteX22" fmla="*/ 2160047 w 3039999"/>
              <a:gd name="connsiteY22" fmla="*/ 110419 h 440926"/>
              <a:gd name="connsiteX23" fmla="*/ 2270907 w 3039999"/>
              <a:gd name="connsiteY23" fmla="*/ 100168 h 440926"/>
              <a:gd name="connsiteX24" fmla="*/ 2379788 w 3039999"/>
              <a:gd name="connsiteY24" fmla="*/ 89251 h 440926"/>
              <a:gd name="connsiteX25" fmla="*/ 2489988 w 3039999"/>
              <a:gd name="connsiteY25" fmla="*/ 76418 h 440926"/>
              <a:gd name="connsiteX26" fmla="*/ 2600188 w 3039999"/>
              <a:gd name="connsiteY26" fmla="*/ 62751 h 440926"/>
              <a:gd name="connsiteX27" fmla="*/ 2710388 w 3039999"/>
              <a:gd name="connsiteY27" fmla="*/ 49168 h 440926"/>
              <a:gd name="connsiteX28" fmla="*/ 2820258 w 3039999"/>
              <a:gd name="connsiteY28" fmla="*/ 33334 h 440926"/>
              <a:gd name="connsiteX29" fmla="*/ 2930129 w 3039999"/>
              <a:gd name="connsiteY29" fmla="*/ 17000 h 440926"/>
              <a:gd name="connsiteX30" fmla="*/ 3039999 w 3039999"/>
              <a:gd name="connsiteY30" fmla="*/ 0 h 440926"/>
              <a:gd name="connsiteX31" fmla="*/ 3026141 w 3039999"/>
              <a:gd name="connsiteY31" fmla="*/ 440924 h 440926"/>
              <a:gd name="connsiteX32" fmla="*/ 2677942 w 3039999"/>
              <a:gd name="connsiteY32" fmla="*/ 435925 h 440926"/>
              <a:gd name="connsiteX33" fmla="*/ 2643381 w 3039999"/>
              <a:gd name="connsiteY33" fmla="*/ 434739 h 440926"/>
              <a:gd name="connsiteX34" fmla="*/ 2673098 w 3039999"/>
              <a:gd name="connsiteY34" fmla="*/ 197552 h 440926"/>
              <a:gd name="connsiteX35" fmla="*/ 2600644 w 3039999"/>
              <a:gd name="connsiteY35" fmla="*/ 199684 h 440926"/>
              <a:gd name="connsiteX36" fmla="*/ 2342303 w 3039999"/>
              <a:gd name="connsiteY36" fmla="*/ 205715 h 440926"/>
              <a:gd name="connsiteX37" fmla="*/ 2084160 w 3039999"/>
              <a:gd name="connsiteY37" fmla="*/ 210171 h 440926"/>
              <a:gd name="connsiteX38" fmla="*/ 1825032 w 3039999"/>
              <a:gd name="connsiteY38" fmla="*/ 209703 h 440926"/>
              <a:gd name="connsiteX39" fmla="*/ 1567480 w 3039999"/>
              <a:gd name="connsiteY39" fmla="*/ 209433 h 440926"/>
              <a:gd name="connsiteX40" fmla="*/ 1308551 w 3039999"/>
              <a:gd name="connsiteY40" fmla="*/ 207391 h 440926"/>
              <a:gd name="connsiteX41" fmla="*/ 1053363 w 3039999"/>
              <a:gd name="connsiteY41" fmla="*/ 201018 h 440926"/>
              <a:gd name="connsiteX42" fmla="*/ 795223 w 3039999"/>
              <a:gd name="connsiteY42" fmla="*/ 192674 h 440926"/>
              <a:gd name="connsiteX43" fmla="*/ 538856 w 3039999"/>
              <a:gd name="connsiteY43" fmla="*/ 182954 h 440926"/>
              <a:gd name="connsiteX44" fmla="*/ 286033 w 3039999"/>
              <a:gd name="connsiteY44" fmla="*/ 170477 h 440926"/>
              <a:gd name="connsiteX45" fmla="*/ 31635 w 3039999"/>
              <a:gd name="connsiteY45" fmla="*/ 157803 h 44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39999" h="440926">
                <a:moveTo>
                  <a:pt x="0" y="155844"/>
                </a:moveTo>
                <a:lnTo>
                  <a:pt x="6524" y="156086"/>
                </a:lnTo>
                <a:lnTo>
                  <a:pt x="98577" y="159586"/>
                </a:lnTo>
                <a:lnTo>
                  <a:pt x="191951" y="162919"/>
                </a:lnTo>
                <a:lnTo>
                  <a:pt x="285984" y="165003"/>
                </a:lnTo>
                <a:lnTo>
                  <a:pt x="381667" y="167003"/>
                </a:lnTo>
                <a:lnTo>
                  <a:pt x="478999" y="169086"/>
                </a:lnTo>
                <a:lnTo>
                  <a:pt x="577652" y="170503"/>
                </a:lnTo>
                <a:lnTo>
                  <a:pt x="677293" y="170503"/>
                </a:lnTo>
                <a:lnTo>
                  <a:pt x="778255" y="171086"/>
                </a:lnTo>
                <a:lnTo>
                  <a:pt x="880207" y="170503"/>
                </a:lnTo>
                <a:lnTo>
                  <a:pt x="983149" y="169086"/>
                </a:lnTo>
                <a:lnTo>
                  <a:pt x="1086420" y="167753"/>
                </a:lnTo>
                <a:lnTo>
                  <a:pt x="1191011" y="165003"/>
                </a:lnTo>
                <a:lnTo>
                  <a:pt x="1296922" y="162336"/>
                </a:lnTo>
                <a:lnTo>
                  <a:pt x="1402173" y="158836"/>
                </a:lnTo>
                <a:lnTo>
                  <a:pt x="1508744" y="154169"/>
                </a:lnTo>
                <a:lnTo>
                  <a:pt x="1616635" y="148669"/>
                </a:lnTo>
                <a:lnTo>
                  <a:pt x="1724525" y="143252"/>
                </a:lnTo>
                <a:lnTo>
                  <a:pt x="1832416" y="136335"/>
                </a:lnTo>
                <a:lnTo>
                  <a:pt x="1942286" y="128169"/>
                </a:lnTo>
                <a:lnTo>
                  <a:pt x="2050177" y="120002"/>
                </a:lnTo>
                <a:lnTo>
                  <a:pt x="2160047" y="110419"/>
                </a:lnTo>
                <a:lnTo>
                  <a:pt x="2270907" y="100168"/>
                </a:lnTo>
                <a:lnTo>
                  <a:pt x="2379788" y="89251"/>
                </a:lnTo>
                <a:lnTo>
                  <a:pt x="2489988" y="76418"/>
                </a:lnTo>
                <a:lnTo>
                  <a:pt x="2600188" y="62751"/>
                </a:lnTo>
                <a:lnTo>
                  <a:pt x="2710388" y="49168"/>
                </a:lnTo>
                <a:lnTo>
                  <a:pt x="2820258" y="33334"/>
                </a:lnTo>
                <a:lnTo>
                  <a:pt x="2930129" y="17000"/>
                </a:lnTo>
                <a:lnTo>
                  <a:pt x="3039999" y="0"/>
                </a:lnTo>
                <a:cubicBezTo>
                  <a:pt x="3029771" y="277755"/>
                  <a:pt x="3036370" y="163169"/>
                  <a:pt x="3026141" y="440924"/>
                </a:cubicBezTo>
                <a:cubicBezTo>
                  <a:pt x="2925757" y="440997"/>
                  <a:pt x="2808081" y="439255"/>
                  <a:pt x="2677942" y="435925"/>
                </a:cubicBezTo>
                <a:lnTo>
                  <a:pt x="2643381" y="434739"/>
                </a:lnTo>
                <a:lnTo>
                  <a:pt x="2673098" y="197552"/>
                </a:lnTo>
                <a:lnTo>
                  <a:pt x="2600644" y="199684"/>
                </a:lnTo>
                <a:lnTo>
                  <a:pt x="2342303" y="205715"/>
                </a:lnTo>
                <a:lnTo>
                  <a:pt x="2084160" y="210171"/>
                </a:lnTo>
                <a:lnTo>
                  <a:pt x="1825032" y="209703"/>
                </a:lnTo>
                <a:lnTo>
                  <a:pt x="1567480" y="209433"/>
                </a:lnTo>
                <a:lnTo>
                  <a:pt x="1308551" y="207391"/>
                </a:lnTo>
                <a:lnTo>
                  <a:pt x="1053363" y="201018"/>
                </a:lnTo>
                <a:lnTo>
                  <a:pt x="795223" y="192674"/>
                </a:lnTo>
                <a:lnTo>
                  <a:pt x="538856" y="182954"/>
                </a:lnTo>
                <a:lnTo>
                  <a:pt x="286033" y="170477"/>
                </a:lnTo>
                <a:lnTo>
                  <a:pt x="31635" y="157803"/>
                </a:lnTo>
                <a:close/>
              </a:path>
            </a:pathLst>
          </a:custGeom>
          <a:solidFill>
            <a:schemeClr val="bg1">
              <a:alpha val="20000"/>
            </a:schemeClr>
          </a:solidFill>
          <a:ln>
            <a:noFill/>
          </a:ln>
        </p:spPr>
        <p:txBody>
          <a:bodyPr wrap="square">
            <a:noAutofit/>
          </a:bodyPr>
          <a:lstStyle/>
          <a:p>
            <a:endParaRPr lang="en-US" dirty="0"/>
          </a:p>
        </p:txBody>
      </p:sp>
      <p:sp>
        <p:nvSpPr>
          <p:cNvPr id="4" name="TextBox 3">
            <a:extLst>
              <a:ext uri="{FF2B5EF4-FFF2-40B4-BE49-F238E27FC236}">
                <a16:creationId xmlns:a16="http://schemas.microsoft.com/office/drawing/2014/main" id="{9C0F8DE7-690B-34D0-6D7B-E10AB8B2088C}"/>
              </a:ext>
            </a:extLst>
          </p:cNvPr>
          <p:cNvSpPr txBox="1"/>
          <p:nvPr/>
        </p:nvSpPr>
        <p:spPr>
          <a:xfrm>
            <a:off x="4052397" y="5220978"/>
            <a:ext cx="4087204" cy="646331"/>
          </a:xfrm>
          <a:prstGeom prst="rect">
            <a:avLst/>
          </a:prstGeom>
          <a:noFill/>
        </p:spPr>
        <p:txBody>
          <a:bodyPr wrap="square" rtlCol="0">
            <a:spAutoFit/>
          </a:bodyPr>
          <a:lstStyle/>
          <a:p>
            <a:r>
              <a:rPr lang="en-GB" sz="3600" b="1" dirty="0">
                <a:solidFill>
                  <a:schemeClr val="bg1"/>
                </a:solidFill>
              </a:rPr>
              <a:t>NCF Architecture</a:t>
            </a:r>
          </a:p>
        </p:txBody>
      </p:sp>
    </p:spTree>
    <p:extLst>
      <p:ext uri="{BB962C8B-B14F-4D97-AF65-F5344CB8AC3E}">
        <p14:creationId xmlns:p14="http://schemas.microsoft.com/office/powerpoint/2010/main" val="18865624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303319-9722-3C06-B400-07A126DB0AB6}"/>
            </a:ext>
          </a:extLst>
        </p:cNvPr>
        <p:cNvGrpSpPr/>
        <p:nvPr/>
      </p:nvGrpSpPr>
      <p:grpSpPr>
        <a:xfrm>
          <a:off x="0" y="0"/>
          <a:ext cx="0" cy="0"/>
          <a:chOff x="0" y="0"/>
          <a:chExt cx="0" cy="0"/>
        </a:xfrm>
      </p:grpSpPr>
      <p:grpSp>
        <p:nvGrpSpPr>
          <p:cNvPr id="47" name="Group 46">
            <a:extLst>
              <a:ext uri="{FF2B5EF4-FFF2-40B4-BE49-F238E27FC236}">
                <a16:creationId xmlns:a16="http://schemas.microsoft.com/office/drawing/2014/main" id="{EED2E2BB-3846-41EB-9F1E-92C33C4A8F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8" name="Rectangle 47">
              <a:extLst>
                <a:ext uri="{FF2B5EF4-FFF2-40B4-BE49-F238E27FC236}">
                  <a16:creationId xmlns:a16="http://schemas.microsoft.com/office/drawing/2014/main" id="{C73D5773-5AC9-444A-A47A-EB6656ACD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49" name="Freeform 5">
              <a:extLst>
                <a:ext uri="{FF2B5EF4-FFF2-40B4-BE49-F238E27FC236}">
                  <a16:creationId xmlns:a16="http://schemas.microsoft.com/office/drawing/2014/main" id="{81EB4475-C020-4325-AF59-31FCBFB7C5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51" name="Rectangle 50">
            <a:extLst>
              <a:ext uri="{FF2B5EF4-FFF2-40B4-BE49-F238E27FC236}">
                <a16:creationId xmlns:a16="http://schemas.microsoft.com/office/drawing/2014/main" id="{F7689D68-C339-4D5B-9DAA-E13F6BD4D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extBox 1">
            <a:extLst>
              <a:ext uri="{FF2B5EF4-FFF2-40B4-BE49-F238E27FC236}">
                <a16:creationId xmlns:a16="http://schemas.microsoft.com/office/drawing/2014/main" id="{EFE299D7-DD1E-5F08-C5FF-9F864E50C019}"/>
              </a:ext>
            </a:extLst>
          </p:cNvPr>
          <p:cNvSpPr txBox="1"/>
          <p:nvPr/>
        </p:nvSpPr>
        <p:spPr>
          <a:xfrm>
            <a:off x="7007145" y="1241266"/>
            <a:ext cx="4535926" cy="3153753"/>
          </a:xfrm>
          <a:prstGeom prst="rect">
            <a:avLst/>
          </a:prstGeom>
        </p:spPr>
        <p:txBody>
          <a:bodyPr vert="horz" lIns="91440" tIns="45720" rIns="91440" bIns="45720" rtlCol="0" anchor="b">
            <a:normAutofit/>
          </a:bodyPr>
          <a:lstStyle/>
          <a:p>
            <a:pPr>
              <a:spcBef>
                <a:spcPct val="0"/>
              </a:spcBef>
              <a:spcAft>
                <a:spcPts val="600"/>
              </a:spcAft>
            </a:pPr>
            <a:r>
              <a:rPr lang="en-US" sz="5400" b="0" i="0" kern="1200" dirty="0">
                <a:solidFill>
                  <a:schemeClr val="bg2"/>
                </a:solidFill>
                <a:latin typeface="+mj-lt"/>
                <a:ea typeface="+mj-ea"/>
                <a:cs typeface="+mj-cs"/>
              </a:rPr>
              <a:t>Model Evaluation</a:t>
            </a:r>
          </a:p>
        </p:txBody>
      </p:sp>
      <p:grpSp>
        <p:nvGrpSpPr>
          <p:cNvPr id="53" name="Group 52">
            <a:extLst>
              <a:ext uri="{FF2B5EF4-FFF2-40B4-BE49-F238E27FC236}">
                <a16:creationId xmlns:a16="http://schemas.microsoft.com/office/drawing/2014/main" id="{28F798B8-1C3B-4B89-8B9A-3F9613CD0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3" y="396837"/>
            <a:ext cx="6451503" cy="6058999"/>
            <a:chOff x="423333" y="396837"/>
            <a:chExt cx="6451503" cy="6058999"/>
          </a:xfrm>
        </p:grpSpPr>
        <p:sp>
          <p:nvSpPr>
            <p:cNvPr id="54" name="Rectangle 53">
              <a:extLst>
                <a:ext uri="{FF2B5EF4-FFF2-40B4-BE49-F238E27FC236}">
                  <a16:creationId xmlns:a16="http://schemas.microsoft.com/office/drawing/2014/main" id="{86FBC0DC-E9D1-4FE7-A92D-8C0C21E6C8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3" y="402165"/>
              <a:ext cx="522933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55" name="Freeform 5">
              <a:extLst>
                <a:ext uri="{FF2B5EF4-FFF2-40B4-BE49-F238E27FC236}">
                  <a16:creationId xmlns:a16="http://schemas.microsoft.com/office/drawing/2014/main" id="{C5B8AD05-BFBB-476E-A552-5125E1F1F6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3161515"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GB" dirty="0"/>
            </a:p>
          </p:txBody>
        </p:sp>
        <p:sp>
          <p:nvSpPr>
            <p:cNvPr id="56" name="Freeform 5">
              <a:extLst>
                <a:ext uri="{FF2B5EF4-FFF2-40B4-BE49-F238E27FC236}">
                  <a16:creationId xmlns:a16="http://schemas.microsoft.com/office/drawing/2014/main" id="{55960B2F-90D8-4D62-B831-C33669F8D2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5004670"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grpSp>
      <p:pic>
        <p:nvPicPr>
          <p:cNvPr id="5" name="Picture 4">
            <a:extLst>
              <a:ext uri="{FF2B5EF4-FFF2-40B4-BE49-F238E27FC236}">
                <a16:creationId xmlns:a16="http://schemas.microsoft.com/office/drawing/2014/main" id="{B26F7BC7-CC4B-ACDF-7F3A-B0D3BF839849}"/>
              </a:ext>
            </a:extLst>
          </p:cNvPr>
          <p:cNvPicPr>
            <a:picLocks noChangeAspect="1"/>
          </p:cNvPicPr>
          <p:nvPr/>
        </p:nvPicPr>
        <p:blipFill>
          <a:blip r:embed="rId4"/>
          <a:stretch>
            <a:fillRect/>
          </a:stretch>
        </p:blipFill>
        <p:spPr>
          <a:xfrm>
            <a:off x="857815" y="698859"/>
            <a:ext cx="4983737" cy="1059044"/>
          </a:xfrm>
          <a:prstGeom prst="rect">
            <a:avLst/>
          </a:prstGeom>
        </p:spPr>
      </p:pic>
      <p:pic>
        <p:nvPicPr>
          <p:cNvPr id="8" name="Picture 7">
            <a:extLst>
              <a:ext uri="{FF2B5EF4-FFF2-40B4-BE49-F238E27FC236}">
                <a16:creationId xmlns:a16="http://schemas.microsoft.com/office/drawing/2014/main" id="{C74834F6-94EA-E4A7-5E05-FE1BB45C792A}"/>
              </a:ext>
            </a:extLst>
          </p:cNvPr>
          <p:cNvPicPr>
            <a:picLocks noChangeAspect="1"/>
          </p:cNvPicPr>
          <p:nvPr/>
        </p:nvPicPr>
        <p:blipFill>
          <a:blip r:embed="rId5"/>
          <a:stretch>
            <a:fillRect/>
          </a:stretch>
        </p:blipFill>
        <p:spPr>
          <a:xfrm>
            <a:off x="278663" y="2509695"/>
            <a:ext cx="5652673" cy="3617710"/>
          </a:xfrm>
          <a:prstGeom prst="rect">
            <a:avLst/>
          </a:prstGeom>
        </p:spPr>
      </p:pic>
      <p:sp>
        <p:nvSpPr>
          <p:cNvPr id="3" name="TextBox 2">
            <a:extLst>
              <a:ext uri="{FF2B5EF4-FFF2-40B4-BE49-F238E27FC236}">
                <a16:creationId xmlns:a16="http://schemas.microsoft.com/office/drawing/2014/main" id="{AAA211BD-8546-2EC8-4361-DD32BB7D3B02}"/>
              </a:ext>
            </a:extLst>
          </p:cNvPr>
          <p:cNvSpPr txBox="1"/>
          <p:nvPr/>
        </p:nvSpPr>
        <p:spPr>
          <a:xfrm>
            <a:off x="4678424" y="1059025"/>
            <a:ext cx="5302189" cy="4739950"/>
          </a:xfrm>
          <a:prstGeom prst="rect">
            <a:avLst/>
          </a:prstGeom>
        </p:spPr>
        <p:txBody>
          <a:bodyPr vert="horz" lIns="91440" tIns="45720" rIns="91440" bIns="45720" rtlCol="0" anchor="ctr">
            <a:normAutofit/>
          </a:bodyPr>
          <a:lstStyle/>
          <a:p>
            <a:pPr>
              <a:spcBef>
                <a:spcPts val="1000"/>
              </a:spcBef>
              <a:buClr>
                <a:schemeClr val="accent1"/>
              </a:buClr>
              <a:buSzPct val="80000"/>
            </a:pPr>
            <a:endParaRPr lang="en-US" dirty="0"/>
          </a:p>
        </p:txBody>
      </p:sp>
    </p:spTree>
    <p:extLst>
      <p:ext uri="{BB962C8B-B14F-4D97-AF65-F5344CB8AC3E}">
        <p14:creationId xmlns:p14="http://schemas.microsoft.com/office/powerpoint/2010/main" val="7031029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2" name="Group 41">
            <a:extLst>
              <a:ext uri="{FF2B5EF4-FFF2-40B4-BE49-F238E27FC236}">
                <a16:creationId xmlns:a16="http://schemas.microsoft.com/office/drawing/2014/main" id="{EED2E2BB-3846-41EB-9F1E-92C33C4A8F4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3" name="Rectangle 42">
              <a:extLst>
                <a:ext uri="{FF2B5EF4-FFF2-40B4-BE49-F238E27FC236}">
                  <a16:creationId xmlns:a16="http://schemas.microsoft.com/office/drawing/2014/main" id="{C73D5773-5AC9-444A-A47A-EB6656ACDC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44" name="Freeform 5">
              <a:extLst>
                <a:ext uri="{FF2B5EF4-FFF2-40B4-BE49-F238E27FC236}">
                  <a16:creationId xmlns:a16="http://schemas.microsoft.com/office/drawing/2014/main" id="{81EB4475-C020-4325-AF59-31FCBFB7C54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46" name="Rectangle 45">
            <a:extLst>
              <a:ext uri="{FF2B5EF4-FFF2-40B4-BE49-F238E27FC236}">
                <a16:creationId xmlns:a16="http://schemas.microsoft.com/office/drawing/2014/main" id="{F7689D68-C339-4D5B-9DAA-E13F6BD4D5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20A82E79-D589-5152-B5F8-DD806CAE528C}"/>
              </a:ext>
            </a:extLst>
          </p:cNvPr>
          <p:cNvSpPr>
            <a:spLocks noGrp="1"/>
          </p:cNvSpPr>
          <p:nvPr>
            <p:ph type="title"/>
          </p:nvPr>
        </p:nvSpPr>
        <p:spPr>
          <a:xfrm>
            <a:off x="2293309" y="4025390"/>
            <a:ext cx="7605382" cy="1411981"/>
          </a:xfrm>
        </p:spPr>
        <p:txBody>
          <a:bodyPr vert="horz" lIns="91440" tIns="45720" rIns="91440" bIns="45720" rtlCol="0" anchor="b">
            <a:normAutofit/>
          </a:bodyPr>
          <a:lstStyle/>
          <a:p>
            <a:pPr algn="ctr"/>
            <a:r>
              <a:rPr lang="en-US" sz="4000" b="0" i="0" kern="1200" dirty="0">
                <a:solidFill>
                  <a:schemeClr val="bg2"/>
                </a:solidFill>
                <a:latin typeface="+mj-lt"/>
                <a:ea typeface="+mj-ea"/>
                <a:cs typeface="+mj-cs"/>
              </a:rPr>
              <a:t>Test RMSE and MAE by model</a:t>
            </a:r>
          </a:p>
        </p:txBody>
      </p:sp>
      <p:pic>
        <p:nvPicPr>
          <p:cNvPr id="4" name="Picture 3">
            <a:extLst>
              <a:ext uri="{FF2B5EF4-FFF2-40B4-BE49-F238E27FC236}">
                <a16:creationId xmlns:a16="http://schemas.microsoft.com/office/drawing/2014/main" id="{76A58C30-5C5C-38E0-800C-980333F94AA8}"/>
              </a:ext>
            </a:extLst>
          </p:cNvPr>
          <p:cNvPicPr>
            <a:picLocks noChangeAspect="1"/>
          </p:cNvPicPr>
          <p:nvPr/>
        </p:nvPicPr>
        <p:blipFill>
          <a:blip r:embed="rId4"/>
          <a:stretch>
            <a:fillRect/>
          </a:stretch>
        </p:blipFill>
        <p:spPr>
          <a:xfrm>
            <a:off x="6165794" y="1303958"/>
            <a:ext cx="5210872" cy="3113495"/>
          </a:xfrm>
          <a:prstGeom prst="roundRect">
            <a:avLst>
              <a:gd name="adj" fmla="val 1858"/>
            </a:avLst>
          </a:prstGeom>
          <a:effectLst>
            <a:outerShdw blurRad="50800" dist="50800" dir="5400000" algn="tl" rotWithShape="0">
              <a:srgbClr val="000000">
                <a:alpha val="43000"/>
              </a:srgbClr>
            </a:outerShdw>
          </a:effectLst>
        </p:spPr>
      </p:pic>
      <p:pic>
        <p:nvPicPr>
          <p:cNvPr id="3" name="Picture 2">
            <a:extLst>
              <a:ext uri="{FF2B5EF4-FFF2-40B4-BE49-F238E27FC236}">
                <a16:creationId xmlns:a16="http://schemas.microsoft.com/office/drawing/2014/main" id="{B4B643F4-E291-0A2E-228C-C80716CA398D}"/>
              </a:ext>
            </a:extLst>
          </p:cNvPr>
          <p:cNvPicPr>
            <a:picLocks noChangeAspect="1"/>
          </p:cNvPicPr>
          <p:nvPr/>
        </p:nvPicPr>
        <p:blipFill>
          <a:blip r:embed="rId5"/>
          <a:stretch>
            <a:fillRect/>
          </a:stretch>
        </p:blipFill>
        <p:spPr>
          <a:xfrm>
            <a:off x="815335" y="1303959"/>
            <a:ext cx="5210872" cy="3113495"/>
          </a:xfrm>
          <a:prstGeom prst="roundRect">
            <a:avLst>
              <a:gd name="adj" fmla="val 1858"/>
            </a:avLst>
          </a:prstGeom>
          <a:effectLst>
            <a:outerShdw blurRad="50800" dist="50800" dir="5400000" algn="tl" rotWithShape="0">
              <a:srgbClr val="000000">
                <a:alpha val="43000"/>
              </a:srgbClr>
            </a:outerShdw>
          </a:effectLst>
        </p:spPr>
      </p:pic>
      <p:sp>
        <p:nvSpPr>
          <p:cNvPr id="5" name="TextBox 4">
            <a:extLst>
              <a:ext uri="{FF2B5EF4-FFF2-40B4-BE49-F238E27FC236}">
                <a16:creationId xmlns:a16="http://schemas.microsoft.com/office/drawing/2014/main" id="{86BC8ECD-0437-56E0-74B7-35F2160AE497}"/>
              </a:ext>
            </a:extLst>
          </p:cNvPr>
          <p:cNvSpPr txBox="1"/>
          <p:nvPr/>
        </p:nvSpPr>
        <p:spPr>
          <a:xfrm>
            <a:off x="2514633" y="5593687"/>
            <a:ext cx="7302321" cy="369332"/>
          </a:xfrm>
          <a:prstGeom prst="rect">
            <a:avLst/>
          </a:prstGeom>
          <a:noFill/>
        </p:spPr>
        <p:txBody>
          <a:bodyPr wrap="square" rtlCol="0">
            <a:spAutoFit/>
          </a:bodyPr>
          <a:lstStyle/>
          <a:p>
            <a:r>
              <a:rPr lang="en-GB" dirty="0">
                <a:solidFill>
                  <a:schemeClr val="bg1"/>
                </a:solidFill>
              </a:rPr>
              <a:t>NDCG@10 – MF: 0.8785.   NCF: 0.8769 across the same 976 users</a:t>
            </a:r>
          </a:p>
        </p:txBody>
      </p:sp>
    </p:spTree>
    <p:extLst>
      <p:ext uri="{BB962C8B-B14F-4D97-AF65-F5344CB8AC3E}">
        <p14:creationId xmlns:p14="http://schemas.microsoft.com/office/powerpoint/2010/main" val="1488460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merican Beauty | Rotten Tomatoes">
            <a:extLst>
              <a:ext uri="{FF2B5EF4-FFF2-40B4-BE49-F238E27FC236}">
                <a16:creationId xmlns:a16="http://schemas.microsoft.com/office/drawing/2014/main" id="{C8072697-82DB-074F-4E3B-118576BB8B43}"/>
              </a:ext>
            </a:extLst>
          </p:cNvPr>
          <p:cNvPicPr>
            <a:picLocks noChangeAspect="1"/>
          </p:cNvPicPr>
          <p:nvPr/>
        </p:nvPicPr>
        <p:blipFill>
          <a:blip r:embed="rId2"/>
          <a:stretch>
            <a:fillRect/>
          </a:stretch>
        </p:blipFill>
        <p:spPr>
          <a:xfrm>
            <a:off x="774320" y="544468"/>
            <a:ext cx="1865850" cy="2487800"/>
          </a:xfrm>
          <a:prstGeom prst="rect">
            <a:avLst/>
          </a:prstGeom>
        </p:spPr>
      </p:pic>
      <p:pic>
        <p:nvPicPr>
          <p:cNvPr id="5" name="Picture 4">
            <a:extLst>
              <a:ext uri="{FF2B5EF4-FFF2-40B4-BE49-F238E27FC236}">
                <a16:creationId xmlns:a16="http://schemas.microsoft.com/office/drawing/2014/main" id="{F8D2A6BD-EE41-F562-54CE-3C18DF35AD64}"/>
              </a:ext>
            </a:extLst>
          </p:cNvPr>
          <p:cNvPicPr>
            <a:picLocks noChangeAspect="1"/>
          </p:cNvPicPr>
          <p:nvPr/>
        </p:nvPicPr>
        <p:blipFill>
          <a:blip r:embed="rId3"/>
          <a:stretch>
            <a:fillRect/>
          </a:stretch>
        </p:blipFill>
        <p:spPr>
          <a:xfrm>
            <a:off x="892562" y="3419019"/>
            <a:ext cx="1605941" cy="2968178"/>
          </a:xfrm>
          <a:prstGeom prst="rect">
            <a:avLst/>
          </a:prstGeom>
        </p:spPr>
      </p:pic>
      <p:sp>
        <p:nvSpPr>
          <p:cNvPr id="7" name="TextBox 6">
            <a:extLst>
              <a:ext uri="{FF2B5EF4-FFF2-40B4-BE49-F238E27FC236}">
                <a16:creationId xmlns:a16="http://schemas.microsoft.com/office/drawing/2014/main" id="{254AEF2D-567A-91CE-E83E-E1E0C7BB7AA8}"/>
              </a:ext>
            </a:extLst>
          </p:cNvPr>
          <p:cNvSpPr txBox="1"/>
          <p:nvPr/>
        </p:nvSpPr>
        <p:spPr>
          <a:xfrm>
            <a:off x="3435438" y="1051500"/>
            <a:ext cx="6098146" cy="1754326"/>
          </a:xfrm>
          <a:prstGeom prst="rect">
            <a:avLst/>
          </a:prstGeom>
          <a:noFill/>
        </p:spPr>
        <p:txBody>
          <a:bodyPr wrap="square">
            <a:spAutoFit/>
          </a:bodyPr>
          <a:lstStyle/>
          <a:p>
            <a:pPr marL="285750" indent="-285750">
              <a:buFont typeface="Wingdings" panose="05000000000000000000" pitchFamily="2" charset="2"/>
              <a:buChar char="Ø"/>
            </a:pPr>
            <a:r>
              <a:rPr lang="en-GB" sz="1800" dirty="0"/>
              <a:t>Most </a:t>
            </a:r>
            <a:r>
              <a:rPr lang="en-GB" dirty="0"/>
              <a:t>rated</a:t>
            </a:r>
            <a:r>
              <a:rPr lang="en-GB" sz="1800" dirty="0"/>
              <a:t> film:  American Beauty (1999) had 3,428 ratings</a:t>
            </a:r>
          </a:p>
          <a:p>
            <a:pPr marL="285750" indent="-285750">
              <a:buFont typeface="Wingdings" panose="05000000000000000000" pitchFamily="2" charset="2"/>
              <a:buChar char="Ø"/>
            </a:pPr>
            <a:r>
              <a:rPr lang="en-GB" sz="1800" dirty="0"/>
              <a:t>User with most ratings – User 4169 with 2,314 (Male, age 50)</a:t>
            </a:r>
          </a:p>
          <a:p>
            <a:pPr marL="285750" indent="-285750">
              <a:buFont typeface="Wingdings" panose="05000000000000000000" pitchFamily="2" charset="2"/>
              <a:buChar char="Ø"/>
            </a:pPr>
            <a:r>
              <a:rPr lang="en-GB" sz="1800" dirty="0"/>
              <a:t>Did he watch American Beauty?  Yes – and he rated it 5/5.</a:t>
            </a:r>
          </a:p>
        </p:txBody>
      </p:sp>
      <p:sp>
        <p:nvSpPr>
          <p:cNvPr id="9" name="TextBox 8">
            <a:extLst>
              <a:ext uri="{FF2B5EF4-FFF2-40B4-BE49-F238E27FC236}">
                <a16:creationId xmlns:a16="http://schemas.microsoft.com/office/drawing/2014/main" id="{74D77205-4B2F-510A-06DD-19DBADC3CFD4}"/>
              </a:ext>
            </a:extLst>
          </p:cNvPr>
          <p:cNvSpPr txBox="1"/>
          <p:nvPr/>
        </p:nvSpPr>
        <p:spPr>
          <a:xfrm>
            <a:off x="3536323" y="3959978"/>
            <a:ext cx="6098146" cy="2031325"/>
          </a:xfrm>
          <a:prstGeom prst="rect">
            <a:avLst/>
          </a:prstGeom>
          <a:noFill/>
        </p:spPr>
        <p:txBody>
          <a:bodyPr wrap="square">
            <a:spAutoFit/>
          </a:bodyPr>
          <a:lstStyle/>
          <a:p>
            <a:pPr marL="285750" indent="-285750">
              <a:buFont typeface="Wingdings" panose="05000000000000000000" pitchFamily="2" charset="2"/>
              <a:buChar char="Ø"/>
            </a:pPr>
            <a:r>
              <a:rPr lang="en-GB" sz="1800" dirty="0"/>
              <a:t>Least </a:t>
            </a:r>
            <a:r>
              <a:rPr lang="en-GB" dirty="0"/>
              <a:t>rated</a:t>
            </a:r>
            <a:r>
              <a:rPr lang="en-GB" sz="1800" dirty="0"/>
              <a:t> film:  </a:t>
            </a:r>
            <a:r>
              <a:rPr lang="en-GB" dirty="0"/>
              <a:t>Juno and Paycock </a:t>
            </a:r>
            <a:r>
              <a:rPr lang="en-GB" sz="1800" dirty="0"/>
              <a:t>(1930) had 1 rating</a:t>
            </a:r>
          </a:p>
          <a:p>
            <a:pPr marL="285750" indent="-285750">
              <a:buFont typeface="Wingdings" panose="05000000000000000000" pitchFamily="2" charset="2"/>
              <a:buChar char="Ø"/>
            </a:pPr>
            <a:r>
              <a:rPr lang="en-GB" sz="1800" dirty="0"/>
              <a:t>User with </a:t>
            </a:r>
            <a:r>
              <a:rPr lang="en-GB" dirty="0"/>
              <a:t>least</a:t>
            </a:r>
            <a:r>
              <a:rPr lang="en-GB" sz="1800" dirty="0"/>
              <a:t> ratings – User </a:t>
            </a:r>
            <a:r>
              <a:rPr lang="en-GB" dirty="0"/>
              <a:t>5725 with 20 ratings</a:t>
            </a:r>
            <a:r>
              <a:rPr lang="en-GB" sz="1800" dirty="0"/>
              <a:t> (Male, age 18)</a:t>
            </a:r>
          </a:p>
          <a:p>
            <a:pPr marL="285750" indent="-285750">
              <a:buFont typeface="Wingdings" panose="05000000000000000000" pitchFamily="2" charset="2"/>
              <a:buChar char="Ø"/>
            </a:pPr>
            <a:r>
              <a:rPr lang="en-GB" sz="1800" dirty="0"/>
              <a:t>Did he watch Juno and the Paycock?  No.</a:t>
            </a:r>
          </a:p>
          <a:p>
            <a:pPr marL="285750" indent="-285750">
              <a:buFont typeface="Wingdings" panose="05000000000000000000" pitchFamily="2" charset="2"/>
              <a:buChar char="Ø"/>
            </a:pPr>
            <a:r>
              <a:rPr lang="en-GB" dirty="0"/>
              <a:t>The user who rated Juno and the Paycock was user 4802 (Male, age 56)</a:t>
            </a:r>
            <a:endParaRPr lang="en-GB" sz="1800" dirty="0"/>
          </a:p>
        </p:txBody>
      </p:sp>
    </p:spTree>
    <p:extLst>
      <p:ext uri="{BB962C8B-B14F-4D97-AF65-F5344CB8AC3E}">
        <p14:creationId xmlns:p14="http://schemas.microsoft.com/office/powerpoint/2010/main" val="2593709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sp>
        <p:nvSpPr>
          <p:cNvPr id="13" name="Rectangle 1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5"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7" name="Rectangle 16">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a:extLst>
              <a:ext uri="{FF2B5EF4-FFF2-40B4-BE49-F238E27FC236}">
                <a16:creationId xmlns:a16="http://schemas.microsoft.com/office/drawing/2014/main" id="{4FB3ECA3-065D-C744-43D7-A4F453CED03C}"/>
              </a:ext>
            </a:extLst>
          </p:cNvPr>
          <p:cNvSpPr>
            <a:spLocks noGrp="1"/>
          </p:cNvSpPr>
          <p:nvPr>
            <p:ph type="title"/>
          </p:nvPr>
        </p:nvSpPr>
        <p:spPr>
          <a:xfrm>
            <a:off x="8195186" y="1924431"/>
            <a:ext cx="3382297" cy="3281957"/>
          </a:xfrm>
        </p:spPr>
        <p:txBody>
          <a:bodyPr vert="horz" lIns="91440" tIns="45720" rIns="91440" bIns="45720" rtlCol="0" anchor="b">
            <a:normAutofit/>
          </a:bodyPr>
          <a:lstStyle/>
          <a:p>
            <a:r>
              <a:rPr lang="en-US" sz="4000" b="0" i="0" kern="1200" dirty="0" err="1">
                <a:solidFill>
                  <a:srgbClr val="EBEBEB"/>
                </a:solidFill>
                <a:latin typeface="+mj-lt"/>
                <a:ea typeface="+mj-ea"/>
                <a:cs typeface="+mj-cs"/>
              </a:rPr>
              <a:t>Gradio</a:t>
            </a:r>
            <a:r>
              <a:rPr lang="en-US" sz="4000" b="0" i="0" kern="1200" dirty="0">
                <a:solidFill>
                  <a:srgbClr val="EBEBEB"/>
                </a:solidFill>
                <a:latin typeface="+mj-lt"/>
                <a:ea typeface="+mj-ea"/>
                <a:cs typeface="+mj-cs"/>
              </a:rPr>
              <a:t> UI showing a prediction for a specific user</a:t>
            </a:r>
          </a:p>
        </p:txBody>
      </p:sp>
      <p:pic>
        <p:nvPicPr>
          <p:cNvPr id="4" name="Picture 3">
            <a:extLst>
              <a:ext uri="{FF2B5EF4-FFF2-40B4-BE49-F238E27FC236}">
                <a16:creationId xmlns:a16="http://schemas.microsoft.com/office/drawing/2014/main" id="{5E6F6FCF-5E57-B82C-C96E-B1AD646E3AC3}"/>
              </a:ext>
            </a:extLst>
          </p:cNvPr>
          <p:cNvPicPr>
            <a:picLocks noChangeAspect="1"/>
          </p:cNvPicPr>
          <p:nvPr/>
        </p:nvPicPr>
        <p:blipFill>
          <a:blip r:embed="rId4"/>
          <a:stretch>
            <a:fillRect/>
          </a:stretch>
        </p:blipFill>
        <p:spPr>
          <a:xfrm>
            <a:off x="1109763" y="1146447"/>
            <a:ext cx="6470907" cy="4561989"/>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59866841"/>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0" name="Rectangle 9">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3" name="Picture 2">
            <a:extLst>
              <a:ext uri="{FF2B5EF4-FFF2-40B4-BE49-F238E27FC236}">
                <a16:creationId xmlns:a16="http://schemas.microsoft.com/office/drawing/2014/main" id="{355648C1-05F6-0A80-16C2-26B16F3733C6}"/>
              </a:ext>
            </a:extLst>
          </p:cNvPr>
          <p:cNvPicPr>
            <a:picLocks noChangeAspect="1"/>
          </p:cNvPicPr>
          <p:nvPr/>
        </p:nvPicPr>
        <p:blipFill>
          <a:blip r:embed="rId2"/>
          <a:stretch>
            <a:fillRect/>
          </a:stretch>
        </p:blipFill>
        <p:spPr>
          <a:xfrm>
            <a:off x="1126066" y="1820322"/>
            <a:ext cx="10035037" cy="3211209"/>
          </a:xfrm>
          <a:prstGeom prst="rect">
            <a:avLst/>
          </a:prstGeom>
        </p:spPr>
      </p:pic>
    </p:spTree>
    <p:extLst>
      <p:ext uri="{BB962C8B-B14F-4D97-AF65-F5344CB8AC3E}">
        <p14:creationId xmlns:p14="http://schemas.microsoft.com/office/powerpoint/2010/main" val="2477564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65A0-706C-0FAC-2670-C9B51D3111E8}"/>
              </a:ext>
            </a:extLst>
          </p:cNvPr>
          <p:cNvSpPr>
            <a:spLocks noGrp="1"/>
          </p:cNvSpPr>
          <p:nvPr>
            <p:ph type="ctrTitle"/>
          </p:nvPr>
        </p:nvSpPr>
        <p:spPr/>
        <p:txBody>
          <a:bodyPr/>
          <a:lstStyle/>
          <a:p>
            <a:r>
              <a:rPr lang="en-GB" dirty="0"/>
              <a:t>Explainability</a:t>
            </a:r>
          </a:p>
        </p:txBody>
      </p:sp>
    </p:spTree>
    <p:extLst>
      <p:ext uri="{BB962C8B-B14F-4D97-AF65-F5344CB8AC3E}">
        <p14:creationId xmlns:p14="http://schemas.microsoft.com/office/powerpoint/2010/main" val="36244990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3" name="Rectangle 1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5">
            <a:extLst>
              <a:ext uri="{FF2B5EF4-FFF2-40B4-BE49-F238E27FC236}">
                <a16:creationId xmlns:a16="http://schemas.microsoft.com/office/drawing/2014/main" id="{EE97EB56-71F6-435D-9037-EA7884A0B5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extBox 1">
            <a:extLst>
              <a:ext uri="{FF2B5EF4-FFF2-40B4-BE49-F238E27FC236}">
                <a16:creationId xmlns:a16="http://schemas.microsoft.com/office/drawing/2014/main" id="{EDD5EFE2-4EBD-31B9-5B24-6BA72DCB8B40}"/>
              </a:ext>
            </a:extLst>
          </p:cNvPr>
          <p:cNvSpPr txBox="1"/>
          <p:nvPr/>
        </p:nvSpPr>
        <p:spPr>
          <a:xfrm>
            <a:off x="1154955" y="4834467"/>
            <a:ext cx="8825658" cy="58638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0" i="0" kern="1200" dirty="0">
                <a:solidFill>
                  <a:srgbClr val="EBEBEB"/>
                </a:solidFill>
                <a:latin typeface="+mj-lt"/>
                <a:ea typeface="+mj-ea"/>
                <a:cs typeface="+mj-cs"/>
              </a:rPr>
              <a:t>Explainability Findings – SHAP - MF</a:t>
            </a:r>
          </a:p>
        </p:txBody>
      </p:sp>
      <p:sp>
        <p:nvSpPr>
          <p:cNvPr id="17" name="Rectangle 16">
            <a:extLst>
              <a:ext uri="{FF2B5EF4-FFF2-40B4-BE49-F238E27FC236}">
                <a16:creationId xmlns:a16="http://schemas.microsoft.com/office/drawing/2014/main" id="{1806AA6E-8227-4323-8975-4F0224F11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4" name="Picture 3">
            <a:extLst>
              <a:ext uri="{FF2B5EF4-FFF2-40B4-BE49-F238E27FC236}">
                <a16:creationId xmlns:a16="http://schemas.microsoft.com/office/drawing/2014/main" id="{593AB822-9081-D826-2AA0-235C41AD3686}"/>
              </a:ext>
            </a:extLst>
          </p:cNvPr>
          <p:cNvPicPr>
            <a:picLocks noChangeAspect="1"/>
          </p:cNvPicPr>
          <p:nvPr/>
        </p:nvPicPr>
        <p:blipFill>
          <a:blip r:embed="rId4"/>
          <a:stretch>
            <a:fillRect/>
          </a:stretch>
        </p:blipFill>
        <p:spPr>
          <a:xfrm>
            <a:off x="1154953" y="1328578"/>
            <a:ext cx="8825659" cy="3243428"/>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4268864097"/>
      </p:ext>
    </p:extLst>
  </p:cSld>
  <p:clrMapOvr>
    <a:overrideClrMapping bg1="dk1" tx1="lt1" bg2="dk2" tx2="lt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C439DF-1741-E528-6B7D-678361774A2F}"/>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39685E96-60B6-0BBC-46BE-5B363E77756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0" name="Rectangle 9">
              <a:extLst>
                <a:ext uri="{FF2B5EF4-FFF2-40B4-BE49-F238E27FC236}">
                  <a16:creationId xmlns:a16="http://schemas.microsoft.com/office/drawing/2014/main" id="{0DDDF51C-B341-F537-6DC1-F414D7F990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11" name="Freeform 5">
              <a:extLst>
                <a:ext uri="{FF2B5EF4-FFF2-40B4-BE49-F238E27FC236}">
                  <a16:creationId xmlns:a16="http://schemas.microsoft.com/office/drawing/2014/main" id="{4E05661D-18E6-B08E-D630-C8E235C55E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a:p>
          </p:txBody>
        </p:sp>
      </p:grpSp>
      <p:sp>
        <p:nvSpPr>
          <p:cNvPr id="13" name="Rectangle 12">
            <a:extLst>
              <a:ext uri="{FF2B5EF4-FFF2-40B4-BE49-F238E27FC236}">
                <a16:creationId xmlns:a16="http://schemas.microsoft.com/office/drawing/2014/main" id="{90B7B187-8653-D7A3-0B64-D7A298DD3E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5" name="Freeform 5">
            <a:extLst>
              <a:ext uri="{FF2B5EF4-FFF2-40B4-BE49-F238E27FC236}">
                <a16:creationId xmlns:a16="http://schemas.microsoft.com/office/drawing/2014/main" id="{782903EB-6D52-A830-2504-CA0A2BD4B0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GB"/>
          </a:p>
        </p:txBody>
      </p:sp>
      <p:sp>
        <p:nvSpPr>
          <p:cNvPr id="2" name="TextBox 1">
            <a:extLst>
              <a:ext uri="{FF2B5EF4-FFF2-40B4-BE49-F238E27FC236}">
                <a16:creationId xmlns:a16="http://schemas.microsoft.com/office/drawing/2014/main" id="{6097D9AE-A255-FE48-321E-BF5E31445456}"/>
              </a:ext>
            </a:extLst>
          </p:cNvPr>
          <p:cNvSpPr txBox="1"/>
          <p:nvPr/>
        </p:nvSpPr>
        <p:spPr>
          <a:xfrm>
            <a:off x="1154955" y="4834467"/>
            <a:ext cx="8825658" cy="586380"/>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600" b="0" i="0" kern="1200" dirty="0">
                <a:solidFill>
                  <a:srgbClr val="EBEBEB"/>
                </a:solidFill>
                <a:latin typeface="+mj-lt"/>
                <a:ea typeface="+mj-ea"/>
                <a:cs typeface="+mj-cs"/>
              </a:rPr>
              <a:t>Explainability Findings – SHAP - </a:t>
            </a:r>
            <a:r>
              <a:rPr lang="en-US" sz="3600" dirty="0">
                <a:solidFill>
                  <a:srgbClr val="EBEBEB"/>
                </a:solidFill>
                <a:latin typeface="+mj-lt"/>
                <a:ea typeface="+mj-ea"/>
                <a:cs typeface="+mj-cs"/>
              </a:rPr>
              <a:t>NCF</a:t>
            </a:r>
            <a:endParaRPr lang="en-US" sz="3600" b="0" i="0" kern="1200" dirty="0">
              <a:solidFill>
                <a:srgbClr val="EBEBEB"/>
              </a:solidFill>
              <a:latin typeface="+mj-lt"/>
              <a:ea typeface="+mj-ea"/>
              <a:cs typeface="+mj-cs"/>
            </a:endParaRPr>
          </a:p>
        </p:txBody>
      </p:sp>
      <p:sp>
        <p:nvSpPr>
          <p:cNvPr id="17" name="Rectangle 16">
            <a:extLst>
              <a:ext uri="{FF2B5EF4-FFF2-40B4-BE49-F238E27FC236}">
                <a16:creationId xmlns:a16="http://schemas.microsoft.com/office/drawing/2014/main" id="{E286636A-F656-D6A5-9788-DFD9F7169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5" name="Picture 4">
            <a:extLst>
              <a:ext uri="{FF2B5EF4-FFF2-40B4-BE49-F238E27FC236}">
                <a16:creationId xmlns:a16="http://schemas.microsoft.com/office/drawing/2014/main" id="{5E28D638-264D-026D-38D9-2FEC09DFED53}"/>
              </a:ext>
            </a:extLst>
          </p:cNvPr>
          <p:cNvPicPr>
            <a:picLocks noChangeAspect="1"/>
          </p:cNvPicPr>
          <p:nvPr/>
        </p:nvPicPr>
        <p:blipFill>
          <a:blip r:embed="rId4"/>
          <a:stretch>
            <a:fillRect/>
          </a:stretch>
        </p:blipFill>
        <p:spPr>
          <a:xfrm>
            <a:off x="1056571" y="2228682"/>
            <a:ext cx="10078857" cy="2400635"/>
          </a:xfrm>
          <a:prstGeom prst="rect">
            <a:avLst/>
          </a:prstGeom>
        </p:spPr>
      </p:pic>
    </p:spTree>
    <p:extLst>
      <p:ext uri="{BB962C8B-B14F-4D97-AF65-F5344CB8AC3E}">
        <p14:creationId xmlns:p14="http://schemas.microsoft.com/office/powerpoint/2010/main" val="2524624618"/>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8EB44-390F-3516-E7EC-7B28C09934A1}"/>
              </a:ext>
            </a:extLst>
          </p:cNvPr>
          <p:cNvSpPr>
            <a:spLocks noGrp="1"/>
          </p:cNvSpPr>
          <p:nvPr>
            <p:ph type="ctrTitle"/>
          </p:nvPr>
        </p:nvSpPr>
        <p:spPr/>
        <p:txBody>
          <a:bodyPr/>
          <a:lstStyle/>
          <a:p>
            <a:r>
              <a:rPr lang="en-GB" dirty="0"/>
              <a:t>Ethical and Bias Considerations</a:t>
            </a:r>
          </a:p>
        </p:txBody>
      </p:sp>
    </p:spTree>
    <p:extLst>
      <p:ext uri="{BB962C8B-B14F-4D97-AF65-F5344CB8AC3E}">
        <p14:creationId xmlns:p14="http://schemas.microsoft.com/office/powerpoint/2010/main" val="16962837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AE92F-D29A-DCD3-C1EB-10AEB0BCB95E}"/>
              </a:ext>
            </a:extLst>
          </p:cNvPr>
          <p:cNvSpPr>
            <a:spLocks noGrp="1"/>
          </p:cNvSpPr>
          <p:nvPr>
            <p:ph type="title"/>
          </p:nvPr>
        </p:nvSpPr>
        <p:spPr/>
        <p:txBody>
          <a:bodyPr/>
          <a:lstStyle/>
          <a:p>
            <a:r>
              <a:rPr lang="en-GB" dirty="0"/>
              <a:t>Ethical Considerations</a:t>
            </a:r>
          </a:p>
        </p:txBody>
      </p:sp>
      <p:graphicFrame>
        <p:nvGraphicFramePr>
          <p:cNvPr id="16" name="Content Placeholder 4">
            <a:extLst>
              <a:ext uri="{FF2B5EF4-FFF2-40B4-BE49-F238E27FC236}">
                <a16:creationId xmlns:a16="http://schemas.microsoft.com/office/drawing/2014/main" id="{DC1F1B97-F878-408C-E073-06E5891C5253}"/>
              </a:ext>
            </a:extLst>
          </p:cNvPr>
          <p:cNvGraphicFramePr>
            <a:graphicFrameLocks noGrp="1"/>
          </p:cNvGraphicFramePr>
          <p:nvPr>
            <p:ph idx="1"/>
          </p:nvPr>
        </p:nvGraphicFramePr>
        <p:xfrm>
          <a:off x="5781146" y="1447800"/>
          <a:ext cx="5190066"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 Placeholder 5">
            <a:extLst>
              <a:ext uri="{FF2B5EF4-FFF2-40B4-BE49-F238E27FC236}">
                <a16:creationId xmlns:a16="http://schemas.microsoft.com/office/drawing/2014/main" id="{A5CC201E-5FF6-E82E-C9A5-69B75C9DE7CA}"/>
              </a:ext>
            </a:extLst>
          </p:cNvPr>
          <p:cNvSpPr>
            <a:spLocks noGrp="1"/>
          </p:cNvSpPr>
          <p:nvPr>
            <p:ph type="body" sz="half" idx="2"/>
          </p:nvPr>
        </p:nvSpPr>
        <p:spPr/>
        <p:txBody>
          <a:bodyPr/>
          <a:lstStyle/>
          <a:p>
            <a:endParaRPr lang="en-GB" dirty="0"/>
          </a:p>
        </p:txBody>
      </p:sp>
      <p:pic>
        <p:nvPicPr>
          <p:cNvPr id="4" name="Picture 3">
            <a:extLst>
              <a:ext uri="{FF2B5EF4-FFF2-40B4-BE49-F238E27FC236}">
                <a16:creationId xmlns:a16="http://schemas.microsoft.com/office/drawing/2014/main" id="{35F01B2F-6ED8-7863-3F4C-FE2F83CA0283}"/>
              </a:ext>
            </a:extLst>
          </p:cNvPr>
          <p:cNvPicPr>
            <a:picLocks noChangeAspect="1"/>
          </p:cNvPicPr>
          <p:nvPr/>
        </p:nvPicPr>
        <p:blipFill>
          <a:blip r:embed="rId8"/>
          <a:stretch>
            <a:fillRect/>
          </a:stretch>
        </p:blipFill>
        <p:spPr>
          <a:xfrm>
            <a:off x="1149875" y="3124201"/>
            <a:ext cx="2895599" cy="2895599"/>
          </a:xfrm>
          <a:prstGeom prst="rect">
            <a:avLst/>
          </a:prstGeom>
        </p:spPr>
      </p:pic>
    </p:spTree>
    <p:extLst>
      <p:ext uri="{BB962C8B-B14F-4D97-AF65-F5344CB8AC3E}">
        <p14:creationId xmlns:p14="http://schemas.microsoft.com/office/powerpoint/2010/main" val="608285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03A1B-B0BB-4CCE-7FEB-B4AD86025C33}"/>
              </a:ext>
            </a:extLst>
          </p:cNvPr>
          <p:cNvSpPr>
            <a:spLocks noGrp="1"/>
          </p:cNvSpPr>
          <p:nvPr>
            <p:ph type="title"/>
          </p:nvPr>
        </p:nvSpPr>
        <p:spPr/>
        <p:txBody>
          <a:bodyPr/>
          <a:lstStyle/>
          <a:p>
            <a:r>
              <a:rPr lang="en-GB" dirty="0"/>
              <a:t>Key biases in the MovieLens data	</a:t>
            </a:r>
          </a:p>
        </p:txBody>
      </p:sp>
      <p:sp>
        <p:nvSpPr>
          <p:cNvPr id="3" name="Content Placeholder 2">
            <a:extLst>
              <a:ext uri="{FF2B5EF4-FFF2-40B4-BE49-F238E27FC236}">
                <a16:creationId xmlns:a16="http://schemas.microsoft.com/office/drawing/2014/main" id="{9FE0ADB1-498A-0050-AB97-659D5A224DC2}"/>
              </a:ext>
            </a:extLst>
          </p:cNvPr>
          <p:cNvSpPr>
            <a:spLocks noGrp="1"/>
          </p:cNvSpPr>
          <p:nvPr>
            <p:ph idx="1"/>
          </p:nvPr>
        </p:nvSpPr>
        <p:spPr/>
        <p:txBody>
          <a:bodyPr/>
          <a:lstStyle/>
          <a:p>
            <a:r>
              <a:rPr lang="en-GB" dirty="0"/>
              <a:t>Demographic – different ages and genders were differently represented.</a:t>
            </a:r>
          </a:p>
          <a:p>
            <a:r>
              <a:rPr lang="en-GB" dirty="0"/>
              <a:t>Popularity – some films were rated far more times than others</a:t>
            </a:r>
          </a:p>
          <a:p>
            <a:r>
              <a:rPr lang="en-GB" dirty="0"/>
              <a:t>Activity – some users were extremely active and so contributed more data</a:t>
            </a:r>
          </a:p>
        </p:txBody>
      </p:sp>
      <p:pic>
        <p:nvPicPr>
          <p:cNvPr id="5" name="Picture 4" descr="Bias - Free miscellaneous icons">
            <a:extLst>
              <a:ext uri="{FF2B5EF4-FFF2-40B4-BE49-F238E27FC236}">
                <a16:creationId xmlns:a16="http://schemas.microsoft.com/office/drawing/2014/main" id="{EF7504A2-B0CF-0918-ACEA-71BBEF9ECB50}"/>
              </a:ext>
            </a:extLst>
          </p:cNvPr>
          <p:cNvPicPr>
            <a:picLocks noChangeAspect="1"/>
          </p:cNvPicPr>
          <p:nvPr/>
        </p:nvPicPr>
        <p:blipFill>
          <a:blip r:embed="rId3"/>
          <a:stretch>
            <a:fillRect/>
          </a:stretch>
        </p:blipFill>
        <p:spPr>
          <a:xfrm>
            <a:off x="994353" y="3019899"/>
            <a:ext cx="3114359" cy="3114359"/>
          </a:xfrm>
          <a:prstGeom prst="rect">
            <a:avLst/>
          </a:prstGeom>
        </p:spPr>
      </p:pic>
    </p:spTree>
    <p:extLst>
      <p:ext uri="{BB962C8B-B14F-4D97-AF65-F5344CB8AC3E}">
        <p14:creationId xmlns:p14="http://schemas.microsoft.com/office/powerpoint/2010/main" val="1364408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0" name="Rectangle 9">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pic>
        <p:nvPicPr>
          <p:cNvPr id="3" name="Picture 2">
            <a:extLst>
              <a:ext uri="{FF2B5EF4-FFF2-40B4-BE49-F238E27FC236}">
                <a16:creationId xmlns:a16="http://schemas.microsoft.com/office/drawing/2014/main" id="{F3DD0133-31FC-E0BC-98A2-1965B65F20CE}"/>
              </a:ext>
            </a:extLst>
          </p:cNvPr>
          <p:cNvPicPr>
            <a:picLocks noChangeAspect="1"/>
          </p:cNvPicPr>
          <p:nvPr/>
        </p:nvPicPr>
        <p:blipFill>
          <a:blip r:embed="rId2"/>
          <a:stretch>
            <a:fillRect/>
          </a:stretch>
        </p:blipFill>
        <p:spPr>
          <a:xfrm>
            <a:off x="1682057" y="1284394"/>
            <a:ext cx="8923055" cy="4283066"/>
          </a:xfrm>
          <a:prstGeom prst="rect">
            <a:avLst/>
          </a:prstGeom>
        </p:spPr>
      </p:pic>
    </p:spTree>
    <p:extLst>
      <p:ext uri="{BB962C8B-B14F-4D97-AF65-F5344CB8AC3E}">
        <p14:creationId xmlns:p14="http://schemas.microsoft.com/office/powerpoint/2010/main" val="124740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0" name="Rectangle 9">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pic>
        <p:nvPicPr>
          <p:cNvPr id="3" name="Picture 2">
            <a:extLst>
              <a:ext uri="{FF2B5EF4-FFF2-40B4-BE49-F238E27FC236}">
                <a16:creationId xmlns:a16="http://schemas.microsoft.com/office/drawing/2014/main" id="{9C0B40B2-060F-4C80-AF89-6FDE39CC1B0C}"/>
              </a:ext>
            </a:extLst>
          </p:cNvPr>
          <p:cNvPicPr>
            <a:picLocks noChangeAspect="1"/>
          </p:cNvPicPr>
          <p:nvPr/>
        </p:nvPicPr>
        <p:blipFill>
          <a:blip r:embed="rId2"/>
          <a:stretch>
            <a:fillRect/>
          </a:stretch>
        </p:blipFill>
        <p:spPr>
          <a:xfrm>
            <a:off x="1728052" y="1284394"/>
            <a:ext cx="8831064" cy="4283066"/>
          </a:xfrm>
          <a:prstGeom prst="rect">
            <a:avLst/>
          </a:prstGeom>
        </p:spPr>
      </p:pic>
    </p:spTree>
    <p:extLst>
      <p:ext uri="{BB962C8B-B14F-4D97-AF65-F5344CB8AC3E}">
        <p14:creationId xmlns:p14="http://schemas.microsoft.com/office/powerpoint/2010/main" val="2147239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F78DAAE-B0C3-49A3-8AB1-AD2FF0E36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dirty="0"/>
          </a:p>
        </p:txBody>
      </p:sp>
      <p:sp>
        <p:nvSpPr>
          <p:cNvPr id="10" name="Rectangle 9">
            <a:extLst>
              <a:ext uri="{FF2B5EF4-FFF2-40B4-BE49-F238E27FC236}">
                <a16:creationId xmlns:a16="http://schemas.microsoft.com/office/drawing/2014/main" id="{F6A8A81D-3338-4B0F-A26F-A3D259D276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66" y="801794"/>
            <a:ext cx="11000237" cy="524826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40155665-7CE2-4939-AE5E-020DC1D207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pic>
        <p:nvPicPr>
          <p:cNvPr id="3" name="Picture 2">
            <a:extLst>
              <a:ext uri="{FF2B5EF4-FFF2-40B4-BE49-F238E27FC236}">
                <a16:creationId xmlns:a16="http://schemas.microsoft.com/office/drawing/2014/main" id="{6A2D8B4D-02E3-7EF7-8432-C22BD0F0722B}"/>
              </a:ext>
            </a:extLst>
          </p:cNvPr>
          <p:cNvPicPr>
            <a:picLocks noChangeAspect="1"/>
          </p:cNvPicPr>
          <p:nvPr/>
        </p:nvPicPr>
        <p:blipFill>
          <a:blip r:embed="rId2"/>
          <a:stretch>
            <a:fillRect/>
          </a:stretch>
        </p:blipFill>
        <p:spPr>
          <a:xfrm>
            <a:off x="1773110" y="1284394"/>
            <a:ext cx="8740949" cy="4283066"/>
          </a:xfrm>
          <a:prstGeom prst="rect">
            <a:avLst/>
          </a:prstGeom>
        </p:spPr>
      </p:pic>
    </p:spTree>
    <p:extLst>
      <p:ext uri="{BB962C8B-B14F-4D97-AF65-F5344CB8AC3E}">
        <p14:creationId xmlns:p14="http://schemas.microsoft.com/office/powerpoint/2010/main" val="22241518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DDA34B8A-FA8D-4E16-AD72-7B60B1C258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6885D229-60DD-4D71-8181-10E781C149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13" name="Oval 12">
              <a:extLst>
                <a:ext uri="{FF2B5EF4-FFF2-40B4-BE49-F238E27FC236}">
                  <a16:creationId xmlns:a16="http://schemas.microsoft.com/office/drawing/2014/main" id="{0B0DAA45-BE66-4F0C-93A6-519D94107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4" name="Oval 13">
              <a:extLst>
                <a:ext uri="{FF2B5EF4-FFF2-40B4-BE49-F238E27FC236}">
                  <a16:creationId xmlns:a16="http://schemas.microsoft.com/office/drawing/2014/main" id="{EF449A3D-A43B-4688-BD89-35734D0072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5" name="Oval 14">
              <a:extLst>
                <a:ext uri="{FF2B5EF4-FFF2-40B4-BE49-F238E27FC236}">
                  <a16:creationId xmlns:a16="http://schemas.microsoft.com/office/drawing/2014/main" id="{74E9975C-AF3D-48EF-B3F0-112A01A382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6" name="Oval 15">
              <a:extLst>
                <a:ext uri="{FF2B5EF4-FFF2-40B4-BE49-F238E27FC236}">
                  <a16:creationId xmlns:a16="http://schemas.microsoft.com/office/drawing/2014/main" id="{CF00A076-2FEA-40D1-8F85-8424817979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7" name="Oval 16">
              <a:extLst>
                <a:ext uri="{FF2B5EF4-FFF2-40B4-BE49-F238E27FC236}">
                  <a16:creationId xmlns:a16="http://schemas.microsoft.com/office/drawing/2014/main" id="{A2E68741-6133-4CAA-BF3C-F0E6CF40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18" name="Freeform 5">
              <a:extLst>
                <a:ext uri="{FF2B5EF4-FFF2-40B4-BE49-F238E27FC236}">
                  <a16:creationId xmlns:a16="http://schemas.microsoft.com/office/drawing/2014/main" id="{76C01C64-4A8B-42FC-93C5-2D6A3EBAB7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GB" dirty="0"/>
            </a:p>
          </p:txBody>
        </p:sp>
        <p:sp>
          <p:nvSpPr>
            <p:cNvPr id="19" name="Freeform 5">
              <a:extLst>
                <a:ext uri="{FF2B5EF4-FFF2-40B4-BE49-F238E27FC236}">
                  <a16:creationId xmlns:a16="http://schemas.microsoft.com/office/drawing/2014/main" id="{D969AEA9-C1EE-45E1-9964-D9705492E1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GB" dirty="0"/>
            </a:p>
          </p:txBody>
        </p:sp>
        <p:sp>
          <p:nvSpPr>
            <p:cNvPr id="20" name="Freeform 5">
              <a:extLst>
                <a:ext uri="{FF2B5EF4-FFF2-40B4-BE49-F238E27FC236}">
                  <a16:creationId xmlns:a16="http://schemas.microsoft.com/office/drawing/2014/main" id="{4845E67D-4E5B-44B3-AB74-5E95C839E7A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GB" dirty="0"/>
            </a:p>
          </p:txBody>
        </p:sp>
      </p:grpSp>
      <p:sp>
        <p:nvSpPr>
          <p:cNvPr id="22" name="Rectangle 21">
            <a:extLst>
              <a:ext uri="{FF2B5EF4-FFF2-40B4-BE49-F238E27FC236}">
                <a16:creationId xmlns:a16="http://schemas.microsoft.com/office/drawing/2014/main" id="{079CE317-680B-449C-A423-71C1FE069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dirty="0"/>
          </a:p>
        </p:txBody>
      </p:sp>
      <p:sp>
        <p:nvSpPr>
          <p:cNvPr id="2" name="Title 1">
            <a:extLst>
              <a:ext uri="{FF2B5EF4-FFF2-40B4-BE49-F238E27FC236}">
                <a16:creationId xmlns:a16="http://schemas.microsoft.com/office/drawing/2014/main" id="{34C537E9-1E51-A230-C0E6-10F32DC7BE72}"/>
              </a:ext>
            </a:extLst>
          </p:cNvPr>
          <p:cNvSpPr>
            <a:spLocks noGrp="1"/>
          </p:cNvSpPr>
          <p:nvPr>
            <p:ph type="title"/>
          </p:nvPr>
        </p:nvSpPr>
        <p:spPr>
          <a:xfrm>
            <a:off x="1154954" y="973668"/>
            <a:ext cx="8761413" cy="706964"/>
          </a:xfrm>
        </p:spPr>
        <p:txBody>
          <a:bodyPr vert="horz" lIns="91440" tIns="45720" rIns="91440" bIns="45720" rtlCol="0" anchor="ctr">
            <a:normAutofit/>
          </a:bodyPr>
          <a:lstStyle/>
          <a:p>
            <a:r>
              <a:rPr lang="en-US" sz="3600" b="0" i="0" kern="1200" dirty="0">
                <a:solidFill>
                  <a:srgbClr val="EBEBEB"/>
                </a:solidFill>
                <a:latin typeface="+mj-lt"/>
                <a:ea typeface="+mj-ea"/>
                <a:cs typeface="+mj-cs"/>
              </a:rPr>
              <a:t>Deployment Considerations</a:t>
            </a:r>
          </a:p>
        </p:txBody>
      </p:sp>
      <p:sp>
        <p:nvSpPr>
          <p:cNvPr id="3" name="Content Placeholder 2">
            <a:extLst>
              <a:ext uri="{FF2B5EF4-FFF2-40B4-BE49-F238E27FC236}">
                <a16:creationId xmlns:a16="http://schemas.microsoft.com/office/drawing/2014/main" id="{BEAE06C0-3F34-3AE2-12F6-A9582535B48B}"/>
              </a:ext>
            </a:extLst>
          </p:cNvPr>
          <p:cNvSpPr>
            <a:spLocks noGrp="1"/>
          </p:cNvSpPr>
          <p:nvPr>
            <p:ph idx="1"/>
          </p:nvPr>
        </p:nvSpPr>
        <p:spPr>
          <a:xfrm>
            <a:off x="763588" y="2305317"/>
            <a:ext cx="6997604" cy="4094987"/>
          </a:xfrm>
        </p:spPr>
        <p:txBody>
          <a:bodyPr vert="horz" lIns="91440" tIns="45720" rIns="91440" bIns="45720" rtlCol="0" anchor="ctr">
            <a:normAutofit/>
          </a:bodyPr>
          <a:lstStyle/>
          <a:p>
            <a:pPr>
              <a:lnSpc>
                <a:spcPct val="90000"/>
              </a:lnSpc>
            </a:pPr>
            <a:r>
              <a:rPr lang="en-US" sz="1400" dirty="0"/>
              <a:t>Machine Learning uses a lot of resources to run.  Implementing the simpler model will be less of a drain on these resources.  As NCF did not show any real improvement, I would choose MF based on the current findings.</a:t>
            </a:r>
          </a:p>
          <a:p>
            <a:pPr>
              <a:lnSpc>
                <a:spcPct val="90000"/>
              </a:lnSpc>
            </a:pPr>
            <a:r>
              <a:rPr lang="en-US" sz="1400" dirty="0"/>
              <a:t>Cold-start users and films (those about which we hold no ratings) will always be a problem as we don’t know what to base our recommendations on.  A real-world implementation would need a measure to address this, such as a Top 5 films question for a new user.</a:t>
            </a:r>
          </a:p>
          <a:p>
            <a:pPr>
              <a:lnSpc>
                <a:spcPct val="90000"/>
              </a:lnSpc>
            </a:pPr>
            <a:r>
              <a:rPr lang="en-US" sz="1400" dirty="0"/>
              <a:t>Either system would require ongoing monitoring to ensure reasonable predictions were being made.  Low activity users, female users and films with lower ratings frequency had the highest error rates.  We’d want to improve this over time.</a:t>
            </a:r>
          </a:p>
          <a:p>
            <a:pPr>
              <a:lnSpc>
                <a:spcPct val="90000"/>
              </a:lnSpc>
            </a:pPr>
            <a:r>
              <a:rPr lang="en-US" sz="1400" dirty="0"/>
              <a:t>Although it’s anonymised here, personal data is held regarding the users and this would need to be carefully and sensitively stored, subject to UK GDPR and other relevant rules across other countries.</a:t>
            </a:r>
          </a:p>
          <a:p>
            <a:pPr>
              <a:lnSpc>
                <a:spcPct val="90000"/>
              </a:lnSpc>
            </a:pPr>
            <a:r>
              <a:rPr lang="en-US" sz="1400" dirty="0"/>
              <a:t>New films are released all the time, so the database would need to be regularly updated and the model retrained with the new data.  This maintenance would be easier on the traditional model.</a:t>
            </a:r>
          </a:p>
        </p:txBody>
      </p:sp>
      <p:pic>
        <p:nvPicPr>
          <p:cNvPr id="6" name="Picture 5" descr="1,441 Fast Deployment Royalty-Free Images, Stock Photos &amp; Pictures | Shutterstock">
            <a:extLst>
              <a:ext uri="{FF2B5EF4-FFF2-40B4-BE49-F238E27FC236}">
                <a16:creationId xmlns:a16="http://schemas.microsoft.com/office/drawing/2014/main" id="{B9162610-424F-497E-35FD-85AE1C91DDDF}"/>
              </a:ext>
            </a:extLst>
          </p:cNvPr>
          <p:cNvPicPr>
            <a:picLocks noChangeAspect="1"/>
          </p:cNvPicPr>
          <p:nvPr/>
        </p:nvPicPr>
        <p:blipFill>
          <a:blip r:embed="rId3"/>
          <a:stretch>
            <a:fillRect/>
          </a:stretch>
        </p:blipFill>
        <p:spPr>
          <a:xfrm>
            <a:off x="8136555" y="2775951"/>
            <a:ext cx="2848079"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7518711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7D4D9-76AF-CEBC-4876-4B2696E639F4}"/>
              </a:ext>
            </a:extLst>
          </p:cNvPr>
          <p:cNvSpPr>
            <a:spLocks noGrp="1"/>
          </p:cNvSpPr>
          <p:nvPr>
            <p:ph type="title"/>
          </p:nvPr>
        </p:nvSpPr>
        <p:spPr/>
        <p:txBody>
          <a:bodyPr/>
          <a:lstStyle/>
          <a:p>
            <a:r>
              <a:rPr lang="en-GB" dirty="0"/>
              <a:t>Conclusion</a:t>
            </a:r>
          </a:p>
        </p:txBody>
      </p:sp>
      <p:sp>
        <p:nvSpPr>
          <p:cNvPr id="3" name="Text Placeholder 2">
            <a:extLst>
              <a:ext uri="{FF2B5EF4-FFF2-40B4-BE49-F238E27FC236}">
                <a16:creationId xmlns:a16="http://schemas.microsoft.com/office/drawing/2014/main" id="{C9144736-87F0-64F8-A0D4-344660DBC101}"/>
              </a:ext>
            </a:extLst>
          </p:cNvPr>
          <p:cNvSpPr>
            <a:spLocks noGrp="1"/>
          </p:cNvSpPr>
          <p:nvPr>
            <p:ph idx="1"/>
          </p:nvPr>
        </p:nvSpPr>
        <p:spPr/>
        <p:txBody>
          <a:bodyPr>
            <a:normAutofit fontScale="92500" lnSpcReduction="10000"/>
          </a:bodyPr>
          <a:lstStyle/>
          <a:p>
            <a:pPr marL="0" indent="0">
              <a:buNone/>
            </a:pPr>
            <a:r>
              <a:rPr lang="en-GB" dirty="0">
                <a:solidFill>
                  <a:schemeClr val="tx1"/>
                </a:solidFill>
              </a:rPr>
              <a:t>In the case of MovieLens 1M, I’d be inclined to use a traditional matrix factorisation model for my recommender system.  This is for the following reasons:</a:t>
            </a:r>
          </a:p>
          <a:p>
            <a:r>
              <a:rPr lang="en-GB" dirty="0">
                <a:solidFill>
                  <a:schemeClr val="tx1"/>
                </a:solidFill>
              </a:rPr>
              <a:t>It’s easier to build and maintain than an NCF model</a:t>
            </a:r>
          </a:p>
          <a:p>
            <a:r>
              <a:rPr lang="en-GB" dirty="0">
                <a:solidFill>
                  <a:schemeClr val="tx1"/>
                </a:solidFill>
              </a:rPr>
              <a:t>It achieved the lowest test RMSE (0.9187) in my results</a:t>
            </a:r>
          </a:p>
          <a:p>
            <a:r>
              <a:rPr lang="en-GB" dirty="0">
                <a:solidFill>
                  <a:schemeClr val="tx1"/>
                </a:solidFill>
              </a:rPr>
              <a:t>It achieved the lowest test MAE (0.7198) in my results</a:t>
            </a:r>
          </a:p>
          <a:p>
            <a:r>
              <a:rPr lang="en-GB" dirty="0">
                <a:solidFill>
                  <a:schemeClr val="tx1"/>
                </a:solidFill>
              </a:rPr>
              <a:t>It achieved the highest NDCG@10 (0.8785) in my results</a:t>
            </a:r>
          </a:p>
          <a:p>
            <a:r>
              <a:rPr lang="en-GB" dirty="0">
                <a:solidFill>
                  <a:schemeClr val="tx1"/>
                </a:solidFill>
              </a:rPr>
              <a:t>User and film biases are accounted for, making the recommendations more understandable.</a:t>
            </a:r>
          </a:p>
          <a:p>
            <a:r>
              <a:rPr lang="en-GB" dirty="0">
                <a:solidFill>
                  <a:schemeClr val="tx1"/>
                </a:solidFill>
              </a:rPr>
              <a:t>NCF did not give improved results, despite its additional complexity, although the results were extremely close.</a:t>
            </a:r>
          </a:p>
        </p:txBody>
      </p:sp>
    </p:spTree>
    <p:extLst>
      <p:ext uri="{BB962C8B-B14F-4D97-AF65-F5344CB8AC3E}">
        <p14:creationId xmlns:p14="http://schemas.microsoft.com/office/powerpoint/2010/main" val="23367588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127A76-675A-D5CB-80F8-47F83563FE46}"/>
              </a:ext>
            </a:extLst>
          </p:cNvPr>
          <p:cNvSpPr txBox="1"/>
          <p:nvPr/>
        </p:nvSpPr>
        <p:spPr>
          <a:xfrm>
            <a:off x="996778" y="518984"/>
            <a:ext cx="8666206" cy="369332"/>
          </a:xfrm>
          <a:prstGeom prst="rect">
            <a:avLst/>
          </a:prstGeom>
          <a:noFill/>
        </p:spPr>
        <p:txBody>
          <a:bodyPr wrap="square" rtlCol="0">
            <a:spAutoFit/>
          </a:bodyPr>
          <a:lstStyle/>
          <a:p>
            <a:r>
              <a:rPr lang="en-GB" dirty="0"/>
              <a:t>References</a:t>
            </a:r>
          </a:p>
        </p:txBody>
      </p:sp>
      <p:sp>
        <p:nvSpPr>
          <p:cNvPr id="3" name="TextBox 2">
            <a:extLst>
              <a:ext uri="{FF2B5EF4-FFF2-40B4-BE49-F238E27FC236}">
                <a16:creationId xmlns:a16="http://schemas.microsoft.com/office/drawing/2014/main" id="{14A86CD8-33A9-9DF0-3C2E-1F4EA050EDEF}"/>
              </a:ext>
            </a:extLst>
          </p:cNvPr>
          <p:cNvSpPr txBox="1"/>
          <p:nvPr/>
        </p:nvSpPr>
        <p:spPr>
          <a:xfrm>
            <a:off x="996778" y="1293341"/>
            <a:ext cx="10903301" cy="4801314"/>
          </a:xfrm>
          <a:prstGeom prst="rect">
            <a:avLst/>
          </a:prstGeom>
          <a:noFill/>
        </p:spPr>
        <p:txBody>
          <a:bodyPr wrap="square" rtlCol="0">
            <a:spAutoFit/>
          </a:bodyPr>
          <a:lstStyle/>
          <a:p>
            <a:pPr marL="285750" indent="-285750">
              <a:buFont typeface="Wingdings" panose="05000000000000000000" pitchFamily="2" charset="2"/>
              <a:buChar char="§"/>
            </a:pPr>
            <a:r>
              <a:rPr lang="en-GB" dirty="0"/>
              <a:t>Chat GPT – feedback on how my presentation fitted the submission brief.</a:t>
            </a:r>
          </a:p>
          <a:p>
            <a:r>
              <a:rPr lang="en-GB"/>
              <a:t>	https://chatgpt.com/share/6acbb412-ea84-83ed-9a67-20ad1bb1185e</a:t>
            </a:r>
            <a:endParaRPr lang="en-GB"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Gemini – in Google Colab</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Géron, A. (2025) Hands-on machine learning with Scikit-Learn and PyTorch: concepts, tools, and techniques to build intelligent systems. Sebastopol, CA: O'Reilly Media.</a:t>
            </a:r>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He, X., Liao, L., Zhang, H., Nie, L., Hu, X. and Chua, T.-S. (2017) 'Neural collaborative filtering', Proceedings of the 26th International Conference on World Wide Web, pp. 173–182. Available at: </a:t>
            </a:r>
            <a:r>
              <a:rPr lang="en-GB" dirty="0">
                <a:hlinkClick r:id="rId2"/>
              </a:rPr>
              <a:t>https://doi.org/10.1145/3038912.3052569</a:t>
            </a:r>
            <a:r>
              <a:rPr lang="en-GB" dirty="0"/>
              <a:t> (Accessed: 11 October 2026).</a:t>
            </a:r>
          </a:p>
          <a:p>
            <a:pPr marL="285750" indent="-285750">
              <a:buFont typeface="Wingdings" panose="05000000000000000000" pitchFamily="2" charset="2"/>
              <a:buChar char="§"/>
            </a:pPr>
            <a:endParaRPr lang="en-GB" dirty="0">
              <a:hlinkClick r:id="rId3"/>
            </a:endParaRPr>
          </a:p>
          <a:p>
            <a:pPr marL="285750" indent="-285750">
              <a:buFont typeface="Wingdings" panose="05000000000000000000" pitchFamily="2" charset="2"/>
              <a:buChar char="§"/>
            </a:pPr>
            <a:r>
              <a:rPr lang="en-GB" dirty="0">
                <a:hlinkClick r:id="rId3"/>
              </a:rPr>
              <a:t>https://grouplens.org/datasets/movielens/1m/</a:t>
            </a:r>
            <a:endParaRPr lang="en-GB" dirty="0"/>
          </a:p>
          <a:p>
            <a:pPr marL="285750" indent="-285750">
              <a:buFont typeface="Wingdings" panose="05000000000000000000" pitchFamily="2" charset="2"/>
              <a:buChar char="§"/>
            </a:pPr>
            <a:endParaRPr lang="en-GB" dirty="0"/>
          </a:p>
          <a:p>
            <a:pPr marL="285750" indent="-285750">
              <a:buFont typeface="Wingdings" panose="05000000000000000000" pitchFamily="2" charset="2"/>
              <a:buChar char="§"/>
            </a:pPr>
            <a:r>
              <a:rPr lang="en-GB" dirty="0"/>
              <a:t>University of Essex Online (2026) Machine Learning: July 2026. [Online module]. University of Essex Online. Available at: https://www.my-course.co.uk/course/view.php?id=15223 (Accessed: 11 October 2026).</a:t>
            </a:r>
          </a:p>
        </p:txBody>
      </p:sp>
    </p:spTree>
    <p:extLst>
      <p:ext uri="{BB962C8B-B14F-4D97-AF65-F5344CB8AC3E}">
        <p14:creationId xmlns:p14="http://schemas.microsoft.com/office/powerpoint/2010/main" val="40745547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F44B8C88-7AFD-4F93-AF50-E36A0AADA3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F666C14-7219-46F1-8169-9E45DA110AD7}">
  <ds:schemaRefs>
    <ds:schemaRef ds:uri="http://schemas.microsoft.com/sharepoint/v3/contenttype/forms"/>
  </ds:schemaRefs>
</ds:datastoreItem>
</file>

<file path=customXml/itemProps3.xml><?xml version="1.0" encoding="utf-8"?>
<ds:datastoreItem xmlns:ds="http://schemas.openxmlformats.org/officeDocument/2006/customXml" ds:itemID="{CAC0CEB4-BFAC-4014-9B69-2CFFE0B783D9}">
  <ds:schemaRefs>
    <ds:schemaRef ds:uri="http://purl.org/dc/dcmitype/"/>
    <ds:schemaRef ds:uri="71af3243-3dd4-4a8d-8c0d-dd76da1f02a5"/>
    <ds:schemaRef ds:uri="16c05727-aa75-4e4a-9b5f-8a80a1165891"/>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0</TotalTime>
  <Words>2770</Words>
  <Application>Microsoft Office PowerPoint</Application>
  <PresentationFormat>Widescreen</PresentationFormat>
  <Paragraphs>208</Paragraphs>
  <Slides>37</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Century Gothic</vt:lpstr>
      <vt:lpstr>Courier New</vt:lpstr>
      <vt:lpstr>Wingdings</vt:lpstr>
      <vt:lpstr>Wingdings 3</vt:lpstr>
      <vt:lpstr>Ion Boardroom</vt:lpstr>
      <vt:lpstr>Machine Learning Individual Project</vt:lpstr>
      <vt:lpstr>Comparative Intelligence and Ethics in Machine Learning Systems</vt:lpstr>
      <vt:lpstr>There were Pros and Cons to this dataset choice</vt:lpstr>
      <vt:lpstr>Exploratory Data Analysis – Ratings Distribution</vt:lpstr>
      <vt:lpstr>Exploratory Data Analysis  - Ratings per user</vt:lpstr>
      <vt:lpstr>Exploratory Data Analysis – Ratings per film</vt:lpstr>
      <vt:lpstr>Exploratory Data Analysis – Film Genres</vt:lpstr>
      <vt:lpstr>Exploratory Data Analysis – User Demographics</vt:lpstr>
      <vt:lpstr>Traditional Machine Learning Model</vt:lpstr>
      <vt:lpstr>PowerPoint Presentation</vt:lpstr>
      <vt:lpstr>PowerPoint Presentation</vt:lpstr>
      <vt:lpstr>PowerPoint Presentation</vt:lpstr>
      <vt:lpstr>Matrix Factorisation using Stochastic Gradient Descent (SGD) </vt:lpstr>
      <vt:lpstr>UI Demonstration</vt:lpstr>
      <vt:lpstr>PowerPoint Presentation</vt:lpstr>
      <vt:lpstr>PowerPoint Presentation</vt:lpstr>
      <vt:lpstr>PowerPoint Presentation</vt:lpstr>
      <vt:lpstr>Deep learning Model</vt:lpstr>
      <vt:lpstr>PowerPoint Presentation</vt:lpstr>
      <vt:lpstr>PowerPoint Presentation</vt:lpstr>
      <vt:lpstr>PowerPoint Presentation</vt:lpstr>
      <vt:lpstr>Test RMSE and MAE by model</vt:lpstr>
      <vt:lpstr>PowerPoint Presentation</vt:lpstr>
      <vt:lpstr>Gradio UI showing a prediction for a specific user</vt:lpstr>
      <vt:lpstr>PowerPoint Presentation</vt:lpstr>
      <vt:lpstr>Explainability</vt:lpstr>
      <vt:lpstr>PowerPoint Presentation</vt:lpstr>
      <vt:lpstr>PowerPoint Presentation</vt:lpstr>
      <vt:lpstr>Ethical and Bias Considerations</vt:lpstr>
      <vt:lpstr>Ethical Considerations</vt:lpstr>
      <vt:lpstr>Key biases in the MovieLens data </vt:lpstr>
      <vt:lpstr>PowerPoint Presentation</vt:lpstr>
      <vt:lpstr>PowerPoint Presentation</vt:lpstr>
      <vt:lpstr>PowerPoint Presentation</vt:lpstr>
      <vt:lpstr>Deployment Considerations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Woodcock</dc:creator>
  <cp:lastModifiedBy>Sarah Woodcock</cp:lastModifiedBy>
  <cp:revision>1</cp:revision>
  <dcterms:created xsi:type="dcterms:W3CDTF">2026-10-04T16:10:12Z</dcterms:created>
  <dcterms:modified xsi:type="dcterms:W3CDTF">2026-10-11T16:07:35Z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